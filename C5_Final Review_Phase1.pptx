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sldIdLst>
    <p:sldId id="256" r:id="rId2"/>
    <p:sldId id="257" r:id="rId3"/>
    <p:sldId id="373" r:id="rId4"/>
    <p:sldId id="386" r:id="rId5"/>
    <p:sldId id="372" r:id="rId6"/>
    <p:sldId id="369" r:id="rId7"/>
    <p:sldId id="385" r:id="rId8"/>
    <p:sldId id="387" r:id="rId9"/>
    <p:sldId id="388" r:id="rId10"/>
    <p:sldId id="389" r:id="rId11"/>
    <p:sldId id="390" r:id="rId12"/>
    <p:sldId id="391" r:id="rId13"/>
    <p:sldId id="392" r:id="rId14"/>
    <p:sldId id="400" r:id="rId15"/>
    <p:sldId id="401" r:id="rId16"/>
    <p:sldId id="393" r:id="rId17"/>
    <p:sldId id="399" r:id="rId18"/>
    <p:sldId id="394" r:id="rId19"/>
    <p:sldId id="402" r:id="rId20"/>
    <p:sldId id="403" r:id="rId21"/>
    <p:sldId id="405" r:id="rId22"/>
    <p:sldId id="404" r:id="rId23"/>
    <p:sldId id="396" r:id="rId24"/>
    <p:sldId id="406" r:id="rId25"/>
    <p:sldId id="397" r:id="rId26"/>
    <p:sldId id="398" r:id="rId27"/>
    <p:sldId id="407" r:id="rId28"/>
    <p:sldId id="37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102" d="100"/>
          <a:sy n="102" d="100"/>
        </p:scale>
        <p:origin x="1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30-11-2025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Final Review – Phase 1</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Final Review – Phase 1</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Final Review – Phase 1</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a:fillRect/>
          </a:stretch>
        </p:blipFill>
        <p:spPr>
          <a:xfrm>
            <a:off x="11111491" y="64077"/>
            <a:ext cx="1000125" cy="1143000"/>
          </a:xfrm>
          <a:prstGeom prst="rect">
            <a:avLst/>
          </a:prstGeom>
        </p:spPr>
      </p:pic>
      <p:sp>
        <p:nvSpPr>
          <p:cNvPr id="9" name="Title 1"/>
          <p:cNvSpPr txBox="1"/>
          <p:nvPr/>
        </p:nvSpPr>
        <p:spPr>
          <a:xfrm>
            <a:off x="808372" y="2766218"/>
            <a:ext cx="10714933" cy="1570890"/>
          </a:xfrm>
          <a:prstGeom prst="rect">
            <a:avLst/>
          </a:prstGeom>
        </p:spPr>
        <p:txBody>
          <a:bodyPr vert="horz" lIns="91440" tIns="45720" rIns="91440" bIns="45720" rtlCol="0" anchor="ctr">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US" altLang="en-GB" sz="3600" b="1" dirty="0">
                <a:solidFill>
                  <a:srgbClr val="7030A0"/>
                </a:solidFill>
                <a:latin typeface="Times New Roman" panose="02020603050405020304" pitchFamily="18" charset="0"/>
                <a:ea typeface="+mn-ea"/>
                <a:cs typeface="Times New Roman" panose="02020603050405020304" pitchFamily="18" charset="0"/>
              </a:rPr>
              <a:t>Detection of Covert Data Exfiltration Channels through Network-Based Keylogger Traffic Analysis using Anomaly Detection</a:t>
            </a:r>
            <a:r>
              <a:rPr lang="en-US" altLang="en-US" sz="3600" b="1" dirty="0">
                <a:solidFill>
                  <a:srgbClr val="7030A0"/>
                </a:solidFill>
                <a:latin typeface="Times New Roman" panose="02020603050405020304" pitchFamily="18" charset="0"/>
                <a:ea typeface="+mn-ea"/>
                <a:cs typeface="Times New Roman" panose="02020603050405020304" pitchFamily="18" charset="0"/>
              </a:rPr>
              <a:t> </a:t>
            </a:r>
            <a:r>
              <a:rPr lang="en-US" altLang="en-GB" sz="3600" b="1" dirty="0">
                <a:solidFill>
                  <a:srgbClr val="7030A0"/>
                </a:solidFill>
                <a:latin typeface="Times New Roman" panose="02020603050405020304" pitchFamily="18" charset="0"/>
                <a:ea typeface="+mn-ea"/>
                <a:cs typeface="Times New Roman" panose="02020603050405020304" pitchFamily="18" charset="0"/>
              </a:rPr>
              <a:t>Techniques</a:t>
            </a:r>
          </a:p>
          <a:p>
            <a:pPr algn="ctr"/>
            <a:r>
              <a:rPr lang="en-US" sz="2200" b="1" dirty="0">
                <a:solidFill>
                  <a:srgbClr val="7030A0"/>
                </a:solidFill>
                <a:latin typeface="Times New Roman" panose="02020603050405020304" pitchFamily="18" charset="0"/>
                <a:ea typeface="+mn-ea"/>
                <a:cs typeface="Times New Roman" panose="02020603050405020304" pitchFamily="18" charset="0"/>
              </a:rPr>
              <a:t>Batch - C5</a:t>
            </a:r>
            <a:endParaRPr lang="en-IN" sz="2200" b="1" dirty="0">
              <a:solidFill>
                <a:srgbClr val="7030A0"/>
              </a:solidFill>
              <a:latin typeface="Verdana" panose="020B0604030504040204" pitchFamily="34" charset="0"/>
              <a:ea typeface="+mn-ea"/>
              <a:cs typeface="+mn-cs"/>
            </a:endParaRPr>
          </a:p>
        </p:txBody>
      </p:sp>
      <p:sp>
        <p:nvSpPr>
          <p:cNvPr id="10" name="TextBox 1"/>
          <p:cNvSpPr txBox="1">
            <a:spLocks noChangeArrowheads="1"/>
          </p:cNvSpPr>
          <p:nvPr/>
        </p:nvSpPr>
        <p:spPr bwMode="auto">
          <a:xfrm>
            <a:off x="353289" y="5707538"/>
            <a:ext cx="34290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err="1">
                <a:solidFill>
                  <a:srgbClr val="FF0000"/>
                </a:solidFill>
                <a:latin typeface="Times New Roman" panose="02020603050405020304" pitchFamily="18" charset="0"/>
                <a:cs typeface="Times New Roman" panose="02020603050405020304" pitchFamily="18" charset="0"/>
              </a:rPr>
              <a:t>Dr.</a:t>
            </a:r>
            <a:r>
              <a:rPr lang="en-IN" altLang="en-US" sz="2400" b="1" dirty="0">
                <a:solidFill>
                  <a:srgbClr val="FF0000"/>
                </a:solidFill>
                <a:latin typeface="Times New Roman" panose="02020603050405020304" pitchFamily="18" charset="0"/>
                <a:cs typeface="Times New Roman" panose="02020603050405020304" pitchFamily="18" charset="0"/>
              </a:rPr>
              <a:t> </a:t>
            </a:r>
            <a:r>
              <a:rPr lang="en-US" altLang="en-IN" sz="2400" b="1" dirty="0">
                <a:solidFill>
                  <a:srgbClr val="FF0000"/>
                </a:solidFill>
                <a:latin typeface="Times New Roman" panose="02020603050405020304" pitchFamily="18" charset="0"/>
                <a:cs typeface="Times New Roman" panose="02020603050405020304" pitchFamily="18" charset="0"/>
              </a:rPr>
              <a:t>K. Anand</a:t>
            </a:r>
            <a:endParaRPr lang="en-IN" altLang="en-US" sz="2400" b="1" dirty="0">
              <a:solidFill>
                <a:srgbClr val="FF0000"/>
              </a:solidFill>
              <a:latin typeface="Times New Roman" panose="02020603050405020304" pitchFamily="18" charset="0"/>
              <a:cs typeface="Times New Roman" panose="02020603050405020304" pitchFamily="18" charset="0"/>
            </a:endParaRPr>
          </a:p>
          <a:p>
            <a:pPr>
              <a:spcBef>
                <a:spcPct val="0"/>
              </a:spcBef>
              <a:buClrTx/>
              <a:buFontTx/>
              <a:buNone/>
            </a:pPr>
            <a:r>
              <a:rPr lang="en-US" altLang="en-US" sz="2400" b="1" dirty="0">
                <a:solidFill>
                  <a:srgbClr val="FF0000"/>
                </a:solidFill>
                <a:latin typeface="Times New Roman" panose="02020603050405020304" pitchFamily="18" charset="0"/>
                <a:cs typeface="Times New Roman" panose="02020603050405020304" pitchFamily="18" charset="0"/>
              </a:rPr>
              <a:t>Professor</a:t>
            </a:r>
            <a:endParaRPr lang="en-IN" altLang="en-US" sz="2400" b="1" dirty="0">
              <a:solidFill>
                <a:srgbClr val="FF0000"/>
              </a:solidFill>
              <a:latin typeface="Times New Roman" panose="02020603050405020304" pitchFamily="18" charset="0"/>
              <a:cs typeface="Times New Roman" panose="02020603050405020304" pitchFamily="18" charset="0"/>
            </a:endParaRPr>
          </a:p>
        </p:txBody>
      </p:sp>
      <p:sp>
        <p:nvSpPr>
          <p:cNvPr id="11" name="TextBox 1"/>
          <p:cNvSpPr txBox="1">
            <a:spLocks noChangeArrowheads="1"/>
          </p:cNvSpPr>
          <p:nvPr/>
        </p:nvSpPr>
        <p:spPr bwMode="auto">
          <a:xfrm>
            <a:off x="7824615" y="5750208"/>
            <a:ext cx="408114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r">
              <a:spcBef>
                <a:spcPct val="0"/>
              </a:spcBef>
              <a:buClrTx/>
              <a:buFontTx/>
              <a:buNone/>
            </a:pPr>
            <a:r>
              <a:rPr lang="en-US" altLang="en-IN" sz="2000" b="1" dirty="0">
                <a:solidFill>
                  <a:srgbClr val="FF0000"/>
                </a:solidFill>
                <a:latin typeface="Times New Roman" panose="02020603050405020304" pitchFamily="18" charset="0"/>
                <a:cs typeface="Times New Roman" panose="02020603050405020304" pitchFamily="18" charset="0"/>
              </a:rPr>
              <a:t>Bhuvaanesh</a:t>
            </a:r>
            <a:r>
              <a:rPr lang="en-IN" altLang="en-US" sz="2000" b="1" dirty="0">
                <a:solidFill>
                  <a:srgbClr val="FF0000"/>
                </a:solidFill>
                <a:latin typeface="Times New Roman" panose="02020603050405020304" pitchFamily="18" charset="0"/>
                <a:cs typeface="Times New Roman" panose="02020603050405020304" pitchFamily="18" charset="0"/>
              </a:rPr>
              <a:t> </a:t>
            </a:r>
            <a:r>
              <a:rPr lang="en-US" altLang="en-IN" sz="2000" b="1" dirty="0">
                <a:solidFill>
                  <a:srgbClr val="FF0000"/>
                </a:solidFill>
                <a:latin typeface="Times New Roman" panose="02020603050405020304" pitchFamily="18" charset="0"/>
                <a:cs typeface="Times New Roman" panose="02020603050405020304" pitchFamily="18" charset="0"/>
              </a:rPr>
              <a:t>R</a:t>
            </a:r>
            <a:r>
              <a:rPr lang="en-IN" altLang="en-US" sz="2000" b="1" dirty="0">
                <a:solidFill>
                  <a:srgbClr val="FF0000"/>
                </a:solidFill>
                <a:latin typeface="Times New Roman" panose="02020603050405020304" pitchFamily="18" charset="0"/>
                <a:cs typeface="Times New Roman" panose="02020603050405020304" pitchFamily="18" charset="0"/>
              </a:rPr>
              <a:t>     (220701</a:t>
            </a:r>
            <a:r>
              <a:rPr lang="en-US" altLang="en-IN" sz="2000" b="1" dirty="0">
                <a:solidFill>
                  <a:srgbClr val="FF0000"/>
                </a:solidFill>
                <a:latin typeface="Times New Roman" panose="02020603050405020304" pitchFamily="18" charset="0"/>
                <a:cs typeface="Times New Roman" panose="02020603050405020304" pitchFamily="18" charset="0"/>
              </a:rPr>
              <a:t>045</a:t>
            </a:r>
            <a:r>
              <a:rPr lang="en-IN" altLang="en-US" sz="2000" b="1" dirty="0">
                <a:solidFill>
                  <a:srgbClr val="FF0000"/>
                </a:solidFill>
                <a:latin typeface="Times New Roman" panose="02020603050405020304" pitchFamily="18" charset="0"/>
                <a:cs typeface="Times New Roman" panose="02020603050405020304" pitchFamily="18" charset="0"/>
              </a:rPr>
              <a:t>)</a:t>
            </a:r>
          </a:p>
          <a:p>
            <a:pPr algn="r">
              <a:spcBef>
                <a:spcPct val="0"/>
              </a:spcBef>
              <a:buClrTx/>
              <a:buFontTx/>
              <a:buNone/>
            </a:pPr>
            <a:r>
              <a:rPr lang="en-US" altLang="en-IN" sz="2000" b="1" dirty="0">
                <a:solidFill>
                  <a:srgbClr val="FF0000"/>
                </a:solidFill>
                <a:latin typeface="Times New Roman" panose="02020603050405020304" pitchFamily="18" charset="0"/>
                <a:cs typeface="Times New Roman" panose="02020603050405020304" pitchFamily="18" charset="0"/>
              </a:rPr>
              <a:t>Rethinaath S       </a:t>
            </a:r>
            <a:r>
              <a:rPr lang="en-IN" altLang="en-US" sz="2000" b="1" dirty="0">
                <a:solidFill>
                  <a:srgbClr val="FF0000"/>
                </a:solidFill>
                <a:latin typeface="Times New Roman" panose="02020603050405020304" pitchFamily="18" charset="0"/>
                <a:cs typeface="Times New Roman" panose="02020603050405020304" pitchFamily="18" charset="0"/>
              </a:rPr>
              <a:t>(220701</a:t>
            </a:r>
            <a:r>
              <a:rPr lang="en-US" altLang="en-IN" sz="2000" b="1" dirty="0">
                <a:solidFill>
                  <a:srgbClr val="FF0000"/>
                </a:solidFill>
                <a:latin typeface="Times New Roman" panose="02020603050405020304" pitchFamily="18" charset="0"/>
                <a:cs typeface="Times New Roman" panose="02020603050405020304" pitchFamily="18" charset="0"/>
              </a:rPr>
              <a:t>222</a:t>
            </a:r>
            <a:r>
              <a:rPr lang="en-IN" altLang="en-US" sz="2000" b="1" dirty="0">
                <a:solidFill>
                  <a:srgbClr val="FF0000"/>
                </a:solidFill>
                <a:latin typeface="Times New Roman" panose="02020603050405020304" pitchFamily="18" charset="0"/>
                <a:cs typeface="Times New Roman" panose="02020603050405020304" pitchFamily="18" charset="0"/>
              </a:rPr>
              <a:t>)</a:t>
            </a:r>
          </a:p>
        </p:txBody>
      </p:sp>
      <p:sp>
        <p:nvSpPr>
          <p:cNvPr id="15" name="Title 1"/>
          <p:cNvSpPr txBox="1"/>
          <p:nvPr/>
        </p:nvSpPr>
        <p:spPr>
          <a:xfrm>
            <a:off x="727552" y="146034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a:t>
            </a:r>
          </a:p>
        </p:txBody>
      </p:sp>
      <p:pic>
        <p:nvPicPr>
          <p:cNvPr id="8" name="Picture 2" descr="Index of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64077"/>
            <a:ext cx="3756758" cy="121352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17049E7D-1BF1-9D69-E93C-50AD976CFEBE}"/>
              </a:ext>
            </a:extLst>
          </p:cNvPr>
          <p:cNvGrpSpPr/>
          <p:nvPr/>
        </p:nvGrpSpPr>
        <p:grpSpPr>
          <a:xfrm>
            <a:off x="5177480" y="4399628"/>
            <a:ext cx="1767742" cy="883871"/>
            <a:chOff x="4423505" y="4399628"/>
            <a:chExt cx="1767742" cy="883871"/>
          </a:xfrm>
        </p:grpSpPr>
        <p:pic>
          <p:nvPicPr>
            <p:cNvPr id="1026" name="Picture 2" descr="Sustainable Development Goal 9 - Wikipedia">
              <a:extLst>
                <a:ext uri="{FF2B5EF4-FFF2-40B4-BE49-F238E27FC236}">
                  <a16:creationId xmlns:a16="http://schemas.microsoft.com/office/drawing/2014/main" id="{9B947420-DC01-4DD1-1A07-A14508AEA80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23505" y="4399628"/>
              <a:ext cx="883871" cy="8838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ustainable Development Goal 16 - Wikipedia">
              <a:extLst>
                <a:ext uri="{FF2B5EF4-FFF2-40B4-BE49-F238E27FC236}">
                  <a16:creationId xmlns:a16="http://schemas.microsoft.com/office/drawing/2014/main" id="{158F9A2C-51C5-AAB6-9EF8-57E9881D705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07376" y="4399628"/>
              <a:ext cx="883871" cy="88387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INTRODUCTION</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3435" y="1711325"/>
            <a:ext cx="10621010" cy="4439285"/>
          </a:xfrm>
        </p:spPr>
        <p:txBody>
          <a:bodyPr/>
          <a:lstStyle/>
          <a:p>
            <a:pPr marL="0" indent="0" algn="just">
              <a:spcBef>
                <a:spcPct val="0"/>
              </a:spcBef>
              <a:buClrTx/>
              <a:buNone/>
            </a:pPr>
            <a:r>
              <a:rPr lang="en-US" altLang="en-US" sz="2800" b="1" dirty="0">
                <a:latin typeface="Times New Roman" panose="02020603050405020304" pitchFamily="18" charset="0"/>
                <a:cs typeface="Times New Roman" panose="02020603050405020304" pitchFamily="18" charset="0"/>
              </a:rPr>
              <a:t>Domain / Area of Project</a:t>
            </a:r>
            <a:endParaRPr lang="en-US" sz="2800" b="1" dirty="0">
              <a:latin typeface="Times New Roman" panose="02020603050405020304" pitchFamily="18" charset="0"/>
              <a:cs typeface="Times New Roman" panose="02020603050405020304" pitchFamily="18" charset="0"/>
            </a:endParaRPr>
          </a:p>
          <a:p>
            <a:pPr marL="0" lvl="0" indent="0" algn="just">
              <a:spcBef>
                <a:spcPct val="0"/>
              </a:spcBef>
              <a:buClrTx/>
              <a:buNone/>
            </a:pPr>
            <a:r>
              <a:rPr lang="en-US" altLang="en-GB" sz="2000" dirty="0">
                <a:latin typeface="Times New Roman" panose="02020603050405020304" pitchFamily="18" charset="0"/>
                <a:cs typeface="Times New Roman" panose="02020603050405020304" pitchFamily="18" charset="0"/>
              </a:rPr>
              <a:t>The project falls under </a:t>
            </a:r>
            <a:r>
              <a:rPr lang="en-US" altLang="en-GB" sz="2000" b="1" dirty="0">
                <a:latin typeface="Times New Roman" panose="02020603050405020304" pitchFamily="18" charset="0"/>
                <a:cs typeface="Times New Roman" panose="02020603050405020304" pitchFamily="18" charset="0"/>
              </a:rPr>
              <a:t>Network Security</a:t>
            </a:r>
            <a:r>
              <a:rPr lang="en-US" altLang="en-GB" sz="2000" dirty="0">
                <a:latin typeface="Times New Roman" panose="02020603050405020304" pitchFamily="18" charset="0"/>
                <a:cs typeface="Times New Roman" panose="02020603050405020304" pitchFamily="18" charset="0"/>
              </a:rPr>
              <a:t>, focusing on </a:t>
            </a:r>
            <a:r>
              <a:rPr lang="en-US" altLang="en-GB" sz="2000" b="1" dirty="0">
                <a:latin typeface="Times New Roman" panose="02020603050405020304" pitchFamily="18" charset="0"/>
                <a:cs typeface="Times New Roman" panose="02020603050405020304" pitchFamily="18" charset="0"/>
              </a:rPr>
              <a:t>covert</a:t>
            </a:r>
            <a:r>
              <a:rPr lang="en-US" altLang="en-GB" sz="2000" dirty="0">
                <a:latin typeface="Times New Roman" panose="02020603050405020304" pitchFamily="18" charset="0"/>
                <a:cs typeface="Times New Roman" panose="02020603050405020304" pitchFamily="18" charset="0"/>
              </a:rPr>
              <a:t> </a:t>
            </a:r>
            <a:r>
              <a:rPr lang="en-US" altLang="en-GB" sz="2000" b="1" dirty="0">
                <a:latin typeface="Times New Roman" panose="02020603050405020304" pitchFamily="18" charset="0"/>
                <a:cs typeface="Times New Roman" panose="02020603050405020304" pitchFamily="18" charset="0"/>
              </a:rPr>
              <a:t>data exfiltration </a:t>
            </a:r>
            <a:r>
              <a:rPr lang="en-US" altLang="en-GB" sz="2000" dirty="0">
                <a:latin typeface="Times New Roman" panose="02020603050405020304" pitchFamily="18" charset="0"/>
                <a:cs typeface="Times New Roman" panose="02020603050405020304" pitchFamily="18" charset="0"/>
              </a:rPr>
              <a:t>and</a:t>
            </a:r>
            <a:r>
              <a:rPr lang="en-US" altLang="en-GB" sz="2000" b="1" dirty="0">
                <a:latin typeface="Times New Roman" panose="02020603050405020304" pitchFamily="18" charset="0"/>
                <a:cs typeface="Times New Roman" panose="02020603050405020304" pitchFamily="18" charset="0"/>
              </a:rPr>
              <a:t> anomaly-based detection</a:t>
            </a:r>
            <a:r>
              <a:rPr lang="en-US" altLang="en-GB" sz="2000" dirty="0">
                <a:latin typeface="Times New Roman" panose="02020603050405020304" pitchFamily="18" charset="0"/>
                <a:cs typeface="Times New Roman" panose="02020603050405020304" pitchFamily="18" charset="0"/>
              </a:rPr>
              <a:t>. It explores how keyloggers can misuse protocols like DNS and ICMP as covert channels to bypass traditional defenses, and proposes a </a:t>
            </a:r>
            <a:r>
              <a:rPr lang="en-US" altLang="en-GB" sz="2000" b="1" dirty="0">
                <a:latin typeface="Times New Roman" panose="02020603050405020304" pitchFamily="18" charset="0"/>
                <a:cs typeface="Times New Roman" panose="02020603050405020304" pitchFamily="18" charset="0"/>
              </a:rPr>
              <a:t>detection mechanism using entropy and timing analysis</a:t>
            </a:r>
            <a:r>
              <a:rPr lang="en-US" altLang="en-GB" sz="2000" dirty="0">
                <a:latin typeface="Times New Roman" panose="02020603050405020304" pitchFamily="18" charset="0"/>
                <a:cs typeface="Times New Roman" panose="02020603050405020304" pitchFamily="18" charset="0"/>
              </a:rPr>
              <a:t> within the field of cybersecurity and intrusion detection.</a:t>
            </a:r>
          </a:p>
          <a:p>
            <a:pPr marL="0" lvl="0" indent="0" algn="just">
              <a:spcBef>
                <a:spcPct val="0"/>
              </a:spcBef>
              <a:buClrTx/>
              <a:buNone/>
            </a:pPr>
            <a:endParaRPr lang="en-US" altLang="en-US" sz="1800" dirty="0">
              <a:latin typeface="Times New Roman" panose="02020603050405020304" pitchFamily="18" charset="0"/>
              <a:cs typeface="Times New Roman" panose="02020603050405020304" pitchFamily="18" charset="0"/>
            </a:endParaRPr>
          </a:p>
          <a:p>
            <a:pPr marL="0" lvl="0" indent="0" algn="just">
              <a:spcBef>
                <a:spcPct val="0"/>
              </a:spcBef>
              <a:buClrTx/>
              <a:buNone/>
            </a:pPr>
            <a:endParaRPr lang="en-US" altLang="en-US" sz="1800" dirty="0">
              <a:latin typeface="Times New Roman" panose="02020603050405020304" pitchFamily="18" charset="0"/>
              <a:cs typeface="Times New Roman" panose="02020603050405020304" pitchFamily="18" charset="0"/>
            </a:endParaRPr>
          </a:p>
          <a:p>
            <a:pPr marL="0" lvl="0" indent="0" algn="just">
              <a:spcBef>
                <a:spcPct val="0"/>
              </a:spcBef>
              <a:buClrTx/>
              <a:buNone/>
            </a:pPr>
            <a:r>
              <a:rPr lang="en-US" altLang="en-US" sz="2800" b="1" dirty="0">
                <a:latin typeface="Times New Roman" panose="02020603050405020304" pitchFamily="18" charset="0"/>
                <a:cs typeface="Times New Roman" panose="02020603050405020304" pitchFamily="18" charset="0"/>
              </a:rPr>
              <a:t>Importance of the Topic</a:t>
            </a:r>
          </a:p>
          <a:p>
            <a:pPr marL="0" indent="0" algn="just">
              <a:buNone/>
            </a:pPr>
            <a:r>
              <a:rPr lang="en-US" altLang="en-GB" sz="2000" dirty="0">
                <a:latin typeface="Times New Roman" panose="02020603050405020304" pitchFamily="18" charset="0"/>
                <a:cs typeface="Times New Roman" panose="02020603050405020304" pitchFamily="18" charset="0"/>
              </a:rPr>
              <a:t>With cyberattacks becoming more sophisticated, traditional security tools often fail to detect stealthy techniques like covert channels used for data theft. Understanding and detecting such hidden communication methods is crucial to </a:t>
            </a:r>
            <a:r>
              <a:rPr lang="en-US" altLang="en-GB" sz="2000" b="1" dirty="0">
                <a:latin typeface="Times New Roman" panose="02020603050405020304" pitchFamily="18" charset="0"/>
                <a:cs typeface="Times New Roman" panose="02020603050405020304" pitchFamily="18" charset="0"/>
              </a:rPr>
              <a:t>protect sensitive information</a:t>
            </a:r>
            <a:r>
              <a:rPr lang="en-US" altLang="en-GB" sz="2000" dirty="0">
                <a:latin typeface="Times New Roman" panose="02020603050405020304" pitchFamily="18" charset="0"/>
                <a:cs typeface="Times New Roman" panose="02020603050405020304" pitchFamily="18" charset="0"/>
              </a:rPr>
              <a:t>, </a:t>
            </a:r>
            <a:r>
              <a:rPr lang="en-US" altLang="en-GB" sz="2000" b="1" dirty="0">
                <a:latin typeface="Times New Roman" panose="02020603050405020304" pitchFamily="18" charset="0"/>
                <a:cs typeface="Times New Roman" panose="02020603050405020304" pitchFamily="18" charset="0"/>
              </a:rPr>
              <a:t>strengthen network defenses</a:t>
            </a:r>
            <a:r>
              <a:rPr lang="en-US" altLang="en-GB" sz="2000" dirty="0">
                <a:latin typeface="Times New Roman" panose="02020603050405020304" pitchFamily="18" charset="0"/>
                <a:cs typeface="Times New Roman" panose="02020603050405020304" pitchFamily="18" charset="0"/>
              </a:rPr>
              <a:t>, and stay ahead of advanced persistent threats in modern cybersecurity.</a:t>
            </a:r>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dirty="0"/>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3200" b="1" dirty="0">
                <a:solidFill>
                  <a:srgbClr val="FF0000"/>
                </a:solidFill>
                <a:latin typeface="Times New Roman" panose="02020603050405020304" pitchFamily="18" charset="0"/>
                <a:cs typeface="Times New Roman" panose="02020603050405020304" pitchFamily="18" charset="0"/>
              </a:rPr>
              <a:t>PROJECT OVERVIEW</a:t>
            </a:r>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smtClean="0"/>
              <a:t>3</a:t>
            </a:fld>
            <a:endParaRPr lang="en-US" altLang="en-US"/>
          </a:p>
        </p:txBody>
      </p:sp>
      <p:sp>
        <p:nvSpPr>
          <p:cNvPr id="7" name="Rectangle 1"/>
          <p:cNvSpPr>
            <a:spLocks noGrp="1" noChangeArrowheads="1"/>
          </p:cNvSpPr>
          <p:nvPr>
            <p:ph idx="1"/>
          </p:nvPr>
        </p:nvSpPr>
        <p:spPr bwMode="auto">
          <a:xfrm>
            <a:off x="812800" y="1670919"/>
            <a:ext cx="10567035" cy="4450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marL="0" indent="0" algn="just">
              <a:buNone/>
            </a:pPr>
            <a:r>
              <a:rPr lang="en-US" sz="2800" b="1" dirty="0">
                <a:latin typeface="Times New Roman" panose="02020603050405020304" pitchFamily="18" charset="0"/>
                <a:cs typeface="Times New Roman" panose="02020603050405020304" pitchFamily="18" charset="0"/>
              </a:rPr>
              <a:t>Project Aim</a:t>
            </a:r>
            <a:r>
              <a:rPr lang="en-US" sz="2800" dirty="0">
                <a:latin typeface="Times New Roman" panose="02020603050405020304" pitchFamily="18" charset="0"/>
                <a:cs typeface="Times New Roman" panose="02020603050405020304" pitchFamily="18" charset="0"/>
              </a:rPr>
              <a:t> </a:t>
            </a:r>
          </a:p>
          <a:p>
            <a:pPr marL="0" indent="0" algn="just">
              <a:buNone/>
            </a:pPr>
            <a:r>
              <a:rPr lang="en-US" altLang="en-GB" sz="2000" dirty="0">
                <a:latin typeface="Times New Roman" panose="02020603050405020304" pitchFamily="18" charset="0"/>
                <a:cs typeface="Times New Roman" panose="02020603050405020304" pitchFamily="18" charset="0"/>
              </a:rPr>
              <a:t>The aim of this project is to design and implement a proof-of-concept </a:t>
            </a:r>
            <a:r>
              <a:rPr lang="en-US" altLang="en-GB" sz="2000" b="1" dirty="0">
                <a:latin typeface="Times New Roman" panose="02020603050405020304" pitchFamily="18" charset="0"/>
                <a:cs typeface="Times New Roman" panose="02020603050405020304" pitchFamily="18" charset="0"/>
              </a:rPr>
              <a:t>network-based keylogger </a:t>
            </a:r>
            <a:r>
              <a:rPr lang="en-US" altLang="en-GB" sz="2000" dirty="0">
                <a:latin typeface="Times New Roman" panose="02020603050405020304" pitchFamily="18" charset="0"/>
                <a:cs typeface="Times New Roman" panose="02020603050405020304" pitchFamily="18" charset="0"/>
              </a:rPr>
              <a:t>that exfiltrates data through covert channels like DNS and ICMP, and to develop an anomaly detection system that can identify such hidden malicious activity </a:t>
            </a:r>
            <a:r>
              <a:rPr lang="en-US" altLang="en-GB" sz="2000" b="1" dirty="0">
                <a:latin typeface="Times New Roman" panose="02020603050405020304" pitchFamily="18" charset="0"/>
                <a:cs typeface="Times New Roman" panose="02020603050405020304" pitchFamily="18" charset="0"/>
              </a:rPr>
              <a:t>using entropy and timing analysis.</a:t>
            </a:r>
            <a:endParaRPr lang="en-US" altLang="en-GB" sz="2000" dirty="0">
              <a:latin typeface="Times New Roman" panose="02020603050405020304" pitchFamily="18" charset="0"/>
              <a:cs typeface="Times New Roman" panose="02020603050405020304" pitchFamily="18" charset="0"/>
            </a:endParaRPr>
          </a:p>
          <a:p>
            <a:pPr marL="0" indent="0" algn="just">
              <a:buNone/>
            </a:pPr>
            <a:endParaRPr lang="en-US" altLang="en-GB" sz="1800" dirty="0">
              <a:latin typeface="Times New Roman" panose="02020603050405020304" pitchFamily="18" charset="0"/>
              <a:cs typeface="Times New Roman" panose="02020603050405020304" pitchFamily="18" charset="0"/>
            </a:endParaRPr>
          </a:p>
          <a:p>
            <a:pPr marL="0" indent="0" algn="just">
              <a:buNone/>
            </a:pPr>
            <a:endParaRPr lang="en-US" altLang="en-GB" sz="2000" dirty="0">
              <a:latin typeface="Times New Roman" panose="02020603050405020304" pitchFamily="18" charset="0"/>
              <a:cs typeface="Times New Roman" panose="02020603050405020304" pitchFamily="18" charset="0"/>
            </a:endParaRPr>
          </a:p>
          <a:p>
            <a:pPr marL="0" indent="0" algn="just">
              <a:buNone/>
            </a:pPr>
            <a:r>
              <a:rPr lang="en-US" sz="2800" b="1" dirty="0">
                <a:latin typeface="Times New Roman" panose="02020603050405020304" pitchFamily="18" charset="0"/>
                <a:cs typeface="Times New Roman" panose="02020603050405020304" pitchFamily="18" charset="0"/>
              </a:rPr>
              <a:t>Overall Approach</a:t>
            </a:r>
            <a:r>
              <a:rPr lang="en-US" sz="2800" dirty="0">
                <a:latin typeface="Times New Roman" panose="02020603050405020304" pitchFamily="18" charset="0"/>
                <a:cs typeface="Times New Roman" panose="02020603050405020304" pitchFamily="18" charset="0"/>
              </a:rPr>
              <a:t> </a:t>
            </a:r>
          </a:p>
          <a:p>
            <a:pPr marL="0" indent="0" algn="just">
              <a:buNone/>
            </a:pPr>
            <a:r>
              <a:rPr lang="en-US" altLang="en-GB" sz="2000" dirty="0">
                <a:latin typeface="Times New Roman" panose="02020603050405020304" pitchFamily="18" charset="0"/>
                <a:cs typeface="Times New Roman" panose="02020603050405020304" pitchFamily="18" charset="0"/>
              </a:rPr>
              <a:t>The project simulates a network-based keylogger that </a:t>
            </a:r>
            <a:r>
              <a:rPr lang="en-US" altLang="en-GB" sz="2000" b="1" dirty="0">
                <a:latin typeface="Times New Roman" panose="02020603050405020304" pitchFamily="18" charset="0"/>
                <a:cs typeface="Times New Roman" panose="02020603050405020304" pitchFamily="18" charset="0"/>
              </a:rPr>
              <a:t>captures keystrokes, encodes them using Base64, and exfiltrates them covertly through DNS queries or ICMP timing</a:t>
            </a:r>
            <a:r>
              <a:rPr lang="en-US" altLang="en-GB" sz="2000" dirty="0">
                <a:latin typeface="Times New Roman" panose="02020603050405020304" pitchFamily="18" charset="0"/>
                <a:cs typeface="Times New Roman" panose="02020603050405020304" pitchFamily="18" charset="0"/>
              </a:rPr>
              <a:t>. On the detection side, network traffic is analyzed for anomalies by </a:t>
            </a:r>
            <a:r>
              <a:rPr lang="en-US" altLang="en-GB" sz="2000" b="1" dirty="0">
                <a:latin typeface="Times New Roman" panose="02020603050405020304" pitchFamily="18" charset="0"/>
                <a:cs typeface="Times New Roman" panose="02020603050405020304" pitchFamily="18" charset="0"/>
              </a:rPr>
              <a:t>calculating DNS entropy and monitoring ICMP packet timing deviations</a:t>
            </a:r>
            <a:r>
              <a:rPr lang="en-US" altLang="en-GB" sz="2000" dirty="0">
                <a:latin typeface="Times New Roman" panose="02020603050405020304" pitchFamily="18" charset="0"/>
                <a:cs typeface="Times New Roman" panose="02020603050405020304" pitchFamily="18" charset="0"/>
              </a:rPr>
              <a:t>, enabling the system to flag suspicious behavior that traditional antivirus tools often miss.</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4</a:t>
            </a:fld>
            <a:endParaRPr lang="en-IN"/>
          </a:p>
        </p:txBody>
      </p:sp>
      <p:sp>
        <p:nvSpPr>
          <p:cNvPr id="7" name="Rectangle 1"/>
          <p:cNvSpPr txBox="1">
            <a:spLocks noChangeArrowheads="1"/>
          </p:cNvSpPr>
          <p:nvPr/>
        </p:nvSpPr>
        <p:spPr bwMode="auto">
          <a:xfrm>
            <a:off x="812800" y="1658620"/>
            <a:ext cx="10621645"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a:lstStyle>
          <a:p>
            <a:pPr marL="0" indent="0" algn="just">
              <a:buNone/>
            </a:pPr>
            <a:r>
              <a:rPr lang="en-US" sz="2800" b="1" dirty="0">
                <a:latin typeface="Times New Roman" panose="02020603050405020304" pitchFamily="18" charset="0"/>
                <a:cs typeface="Times New Roman" panose="02020603050405020304" pitchFamily="18" charset="0"/>
              </a:rPr>
              <a:t>Current Systems</a:t>
            </a:r>
            <a:endParaRPr lang="en-US" sz="2800" dirty="0">
              <a:latin typeface="Times New Roman" panose="02020603050405020304" pitchFamily="18" charset="0"/>
              <a:cs typeface="Times New Roman" panose="02020603050405020304" pitchFamily="18" charset="0"/>
            </a:endParaRPr>
          </a:p>
          <a:p>
            <a:pPr lvl="1" algn="just"/>
            <a:r>
              <a:rPr lang="en-US" altLang="en-GB" sz="2000" b="1" dirty="0">
                <a:latin typeface="Times New Roman" panose="02020603050405020304" pitchFamily="18" charset="0"/>
                <a:cs typeface="Times New Roman" panose="02020603050405020304" pitchFamily="18" charset="0"/>
              </a:rPr>
              <a:t>Antivirus Software –</a:t>
            </a:r>
            <a:r>
              <a:rPr lang="en-US" altLang="en-GB" sz="2000" dirty="0">
                <a:latin typeface="Times New Roman" panose="02020603050405020304" pitchFamily="18" charset="0"/>
                <a:cs typeface="Times New Roman" panose="02020603050405020304" pitchFamily="18" charset="0"/>
              </a:rPr>
              <a:t> Detects known malware using signature-based scanning.</a:t>
            </a:r>
            <a:endParaRPr lang="en-US" altLang="en-GB" sz="2000" b="1" dirty="0">
              <a:latin typeface="Times New Roman" panose="02020603050405020304" pitchFamily="18" charset="0"/>
              <a:cs typeface="Times New Roman" panose="02020603050405020304" pitchFamily="18" charset="0"/>
            </a:endParaRPr>
          </a:p>
          <a:p>
            <a:pPr lvl="1" algn="just"/>
            <a:r>
              <a:rPr lang="en-US" altLang="en-GB" sz="2000" b="1" dirty="0">
                <a:latin typeface="Times New Roman" panose="02020603050405020304" pitchFamily="18" charset="0"/>
                <a:cs typeface="Times New Roman" panose="02020603050405020304" pitchFamily="18" charset="0"/>
              </a:rPr>
              <a:t>Intrusion Detection Systems (IDS) / Firewalls</a:t>
            </a:r>
            <a:r>
              <a:rPr lang="en-US" altLang="en-GB" sz="2000" dirty="0">
                <a:latin typeface="Times New Roman" panose="02020603050405020304" pitchFamily="18" charset="0"/>
                <a:cs typeface="Times New Roman" panose="02020603050405020304" pitchFamily="18" charset="0"/>
              </a:rPr>
              <a:t> – Monitor traffic for suspicious patterns or rule violations.</a:t>
            </a:r>
          </a:p>
          <a:p>
            <a:pPr lvl="1" algn="just"/>
            <a:r>
              <a:rPr lang="en-US" altLang="en-GB" sz="2000" b="1" kern="0" dirty="0">
                <a:latin typeface="Times New Roman" panose="02020603050405020304" pitchFamily="18" charset="0"/>
                <a:cs typeface="Times New Roman" panose="02020603050405020304" pitchFamily="18" charset="0"/>
              </a:rPr>
              <a:t>Network Monitoring Tools</a:t>
            </a:r>
            <a:r>
              <a:rPr lang="en-US" altLang="en-GB" sz="2000" kern="0" dirty="0">
                <a:latin typeface="Times New Roman" panose="02020603050405020304" pitchFamily="18" charset="0"/>
                <a:cs typeface="Times New Roman" panose="02020603050405020304" pitchFamily="18" charset="0"/>
              </a:rPr>
              <a:t> – Capture and analyze packets for predefined threats.</a:t>
            </a:r>
          </a:p>
          <a:p>
            <a:pPr marL="471170" lvl="1" indent="0" algn="just">
              <a:buNone/>
            </a:pPr>
            <a:endParaRPr lang="en-US" altLang="en-GB" sz="1800" kern="0" dirty="0">
              <a:latin typeface="Times New Roman" panose="02020603050405020304" pitchFamily="18" charset="0"/>
              <a:cs typeface="Times New Roman" panose="02020603050405020304" pitchFamily="18" charset="0"/>
            </a:endParaRPr>
          </a:p>
          <a:p>
            <a:pPr marL="0" indent="0" algn="just">
              <a:buNone/>
            </a:pPr>
            <a:r>
              <a:rPr lang="en-US" sz="2800" b="1" dirty="0">
                <a:latin typeface="Times New Roman" panose="02020603050405020304" pitchFamily="18" charset="0"/>
                <a:cs typeface="Times New Roman" panose="02020603050405020304" pitchFamily="18" charset="0"/>
              </a:rPr>
              <a:t>Limitations</a:t>
            </a:r>
            <a:endParaRPr lang="en-US" sz="2800" dirty="0">
              <a:latin typeface="Times New Roman" panose="02020603050405020304" pitchFamily="18" charset="0"/>
              <a:cs typeface="Times New Roman" panose="02020603050405020304" pitchFamily="18" charset="0"/>
            </a:endParaRPr>
          </a:p>
          <a:p>
            <a:pPr lvl="1" algn="just"/>
            <a:r>
              <a:rPr lang="en-US" altLang="en-GB" sz="2000" b="1" dirty="0">
                <a:latin typeface="Times New Roman" panose="02020603050405020304" pitchFamily="18" charset="0"/>
                <a:cs typeface="Times New Roman" panose="02020603050405020304" pitchFamily="18" charset="0"/>
              </a:rPr>
              <a:t>Signature Dependency</a:t>
            </a:r>
            <a:r>
              <a:rPr lang="en-US" altLang="en-GB" sz="2000" dirty="0">
                <a:latin typeface="Times New Roman" panose="02020603050405020304" pitchFamily="18" charset="0"/>
                <a:cs typeface="Times New Roman" panose="02020603050405020304" pitchFamily="18" charset="0"/>
              </a:rPr>
              <a:t> – Fail to detect new or unknown malware variants.</a:t>
            </a:r>
          </a:p>
          <a:p>
            <a:pPr lvl="1" algn="just"/>
            <a:r>
              <a:rPr lang="en-US" altLang="en-GB" sz="2000" b="1" dirty="0">
                <a:latin typeface="Times New Roman" panose="02020603050405020304" pitchFamily="18" charset="0"/>
                <a:cs typeface="Times New Roman" panose="02020603050405020304" pitchFamily="18" charset="0"/>
              </a:rPr>
              <a:t>Protocol Blindness</a:t>
            </a:r>
            <a:r>
              <a:rPr lang="en-US" altLang="en-GB" sz="2000" dirty="0">
                <a:latin typeface="Times New Roman" panose="02020603050405020304" pitchFamily="18" charset="0"/>
                <a:cs typeface="Times New Roman" panose="02020603050405020304" pitchFamily="18" charset="0"/>
              </a:rPr>
              <a:t> – Struggle to identify misuse of legitimate protocols.</a:t>
            </a:r>
          </a:p>
          <a:p>
            <a:pPr lvl="1" algn="just"/>
            <a:r>
              <a:rPr lang="en-US" altLang="en-GB" sz="2000" b="1" dirty="0">
                <a:latin typeface="Times New Roman" panose="02020603050405020304" pitchFamily="18" charset="0"/>
                <a:cs typeface="Times New Roman" panose="02020603050405020304" pitchFamily="18" charset="0"/>
              </a:rPr>
              <a:t>Focus on Payload</a:t>
            </a:r>
            <a:r>
              <a:rPr lang="en-US" altLang="en-GB" sz="2000" dirty="0">
                <a:latin typeface="Times New Roman" panose="02020603050405020304" pitchFamily="18" charset="0"/>
                <a:cs typeface="Times New Roman" panose="02020603050405020304" pitchFamily="18" charset="0"/>
              </a:rPr>
              <a:t> – Often ignore timing-based or entropy-based covert channels.</a:t>
            </a:r>
          </a:p>
          <a:p>
            <a:pPr lvl="1" algn="just"/>
            <a:r>
              <a:rPr lang="en-US" altLang="en-GB" sz="2000" b="1" dirty="0">
                <a:latin typeface="Times New Roman" panose="02020603050405020304" pitchFamily="18" charset="0"/>
                <a:cs typeface="Times New Roman" panose="02020603050405020304" pitchFamily="18" charset="0"/>
              </a:rPr>
              <a:t>Limited Adaptability</a:t>
            </a:r>
            <a:r>
              <a:rPr lang="en-US" altLang="en-GB" sz="2000" dirty="0">
                <a:latin typeface="Times New Roman" panose="02020603050405020304" pitchFamily="18" charset="0"/>
                <a:cs typeface="Times New Roman" panose="02020603050405020304" pitchFamily="18" charset="0"/>
              </a:rPr>
              <a:t> – Cannot easily adapt to sophisticated attack methods without constant rule updates.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PROBLEM STATEMENT </a:t>
            </a:r>
            <a:endParaRPr lang="en-IN"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5</a:t>
            </a:fld>
            <a:endParaRPr lang="en-IN"/>
          </a:p>
        </p:txBody>
      </p:sp>
      <p:sp>
        <p:nvSpPr>
          <p:cNvPr id="8" name="Rectangle 2"/>
          <p:cNvSpPr>
            <a:spLocks noGrp="1" noChangeArrowheads="1"/>
          </p:cNvSpPr>
          <p:nvPr>
            <p:ph idx="1"/>
          </p:nvPr>
        </p:nvSpPr>
        <p:spPr bwMode="auto">
          <a:xfrm>
            <a:off x="812165" y="1688465"/>
            <a:ext cx="10622915" cy="4426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just">
              <a:spcBef>
                <a:spcPct val="0"/>
              </a:spcBef>
              <a:buClrTx/>
              <a:buFont typeface="Arial" panose="020B0604020202020204" pitchFamily="34" charset="0"/>
              <a:buChar char="•"/>
            </a:pP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antivirus and intrusion detection systems are effective against keyloggers that use standard data exfiltration methods such as HTTP or FTP, but they often fail when attackers employ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covert-channels</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DNS tunneling or ICMP timing. </a:t>
            </a:r>
          </a:p>
          <a:p>
            <a:pPr lvl="0" algn="just">
              <a:spcBef>
                <a:spcPct val="0"/>
              </a:spcBef>
              <a:buClrTx/>
              <a:buFont typeface="Arial" panose="020B0604020202020204" pitchFamily="34" charset="0"/>
              <a:buChar char="•"/>
            </a:pP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covert methods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hide keystroke data </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within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normal-looking network traffic</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it extremely difficult to distinguish malicious activity from legitimate communication. </a:t>
            </a:r>
          </a:p>
          <a:p>
            <a:pPr lvl="0" algn="just">
              <a:spcBef>
                <a:spcPct val="0"/>
              </a:spcBef>
              <a:buClrTx/>
              <a:buFont typeface="Arial" panose="020B0604020202020204" pitchFamily="34" charset="0"/>
              <a:buChar char="•"/>
            </a:pP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a result, sensitive information can be silently exfiltrated without raising alarms, highlighting the need for a detection system that goes </a:t>
            </a:r>
            <a:r>
              <a:rPr kumimoji="0" lang="en-US" altLang="en-GB"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beyond signature-based approaches</a:t>
            </a:r>
            <a:r>
              <a:rPr kumimoji="0" lang="en-US" altLang="en-GB"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focuses on identifying anomalies in network behavior.</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sz="3200" b="1" dirty="0">
                <a:solidFill>
                  <a:srgbClr val="FF0000"/>
                </a:solidFill>
                <a:latin typeface="Times New Roman" panose="02020603050405020304" pitchFamily="18" charset="0"/>
                <a:cs typeface="Times New Roman" panose="02020603050405020304" pitchFamily="18" charset="0"/>
              </a:rPr>
              <a:t>OBJECTIVES AND SCOPE</a:t>
            </a:r>
            <a:endParaRPr lang="en-IN" sz="2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a:t>Department of Computer Science and Engineering</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6</a:t>
            </a:fld>
            <a:endParaRPr lang="en-IN"/>
          </a:p>
        </p:txBody>
      </p:sp>
      <p:sp>
        <p:nvSpPr>
          <p:cNvPr id="7" name="Rectangle 1"/>
          <p:cNvSpPr txBox="1">
            <a:spLocks noChangeArrowheads="1"/>
          </p:cNvSpPr>
          <p:nvPr/>
        </p:nvSpPr>
        <p:spPr bwMode="auto">
          <a:xfrm>
            <a:off x="812800" y="1693545"/>
            <a:ext cx="10621645" cy="440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a:lstStyle>
          <a:p>
            <a:pPr marL="0" lvl="0" indent="0" algn="just">
              <a:spcBef>
                <a:spcPct val="0"/>
              </a:spcBef>
              <a:buClrTx/>
              <a:buNone/>
            </a:pPr>
            <a:r>
              <a:rPr lang="en-US" altLang="en-US" sz="2800" b="1" dirty="0">
                <a:latin typeface="Times New Roman" panose="02020603050405020304" pitchFamily="18" charset="0"/>
                <a:cs typeface="Times New Roman" panose="02020603050405020304" pitchFamily="18" charset="0"/>
              </a:rPr>
              <a:t>Key Objectives</a:t>
            </a:r>
            <a:endParaRPr lang="en-US" altLang="en-US" sz="2800" dirty="0">
              <a:latin typeface="Times New Roman" panose="02020603050405020304" pitchFamily="18" charset="0"/>
              <a:cs typeface="Times New Roman" panose="02020603050405020304" pitchFamily="18" charset="0"/>
            </a:endParaRPr>
          </a:p>
          <a:p>
            <a:pPr lvl="1" algn="just"/>
            <a:r>
              <a:rPr lang="en-US" altLang="en-GB" sz="2000" dirty="0">
                <a:latin typeface="Times New Roman" panose="02020603050405020304" pitchFamily="18" charset="0"/>
                <a:cs typeface="Times New Roman" panose="02020603050405020304" pitchFamily="18" charset="0"/>
              </a:rPr>
              <a:t>Implement a </a:t>
            </a:r>
            <a:r>
              <a:rPr lang="en-US" altLang="en-GB" sz="2000" b="1" dirty="0">
                <a:latin typeface="Times New Roman" panose="02020603050405020304" pitchFamily="18" charset="0"/>
                <a:cs typeface="Times New Roman" panose="02020603050405020304" pitchFamily="18" charset="0"/>
              </a:rPr>
              <a:t>Proof-of-Concept (PoC)</a:t>
            </a:r>
            <a:r>
              <a:rPr lang="en-US" altLang="en-GB" sz="2000" dirty="0">
                <a:latin typeface="Times New Roman" panose="02020603050405020304" pitchFamily="18" charset="0"/>
                <a:cs typeface="Times New Roman" panose="02020603050405020304" pitchFamily="18" charset="0"/>
              </a:rPr>
              <a:t> keylogger that exfiltrates data via DNS and ICMP covert channels.</a:t>
            </a:r>
          </a:p>
          <a:p>
            <a:pPr lvl="1" algn="just"/>
            <a:r>
              <a:rPr lang="en-US" altLang="en-GB" sz="2000" dirty="0">
                <a:latin typeface="Times New Roman" panose="02020603050405020304" pitchFamily="18" charset="0"/>
                <a:cs typeface="Times New Roman" panose="02020603050405020304" pitchFamily="18" charset="0"/>
              </a:rPr>
              <a:t>Encode keystrokes using </a:t>
            </a:r>
            <a:r>
              <a:rPr lang="en-US" altLang="en-GB" sz="2000" b="1" dirty="0">
                <a:latin typeface="Times New Roman" panose="02020603050405020304" pitchFamily="18" charset="0"/>
                <a:cs typeface="Times New Roman" panose="02020603050405020304" pitchFamily="18" charset="0"/>
              </a:rPr>
              <a:t>Base64</a:t>
            </a:r>
            <a:r>
              <a:rPr lang="en-US" altLang="en-GB" sz="2000" dirty="0">
                <a:latin typeface="Times New Roman" panose="02020603050405020304" pitchFamily="18" charset="0"/>
                <a:cs typeface="Times New Roman" panose="02020603050405020304" pitchFamily="18" charset="0"/>
              </a:rPr>
              <a:t> and transmit them within normal-looking traffic.</a:t>
            </a:r>
          </a:p>
          <a:p>
            <a:pPr lvl="1" algn="just"/>
            <a:r>
              <a:rPr lang="en-US" altLang="en-GB" sz="2000" dirty="0">
                <a:latin typeface="Times New Roman" panose="02020603050405020304" pitchFamily="18" charset="0"/>
                <a:cs typeface="Times New Roman" panose="02020603050405020304" pitchFamily="18" charset="0"/>
              </a:rPr>
              <a:t>Develop an </a:t>
            </a:r>
            <a:r>
              <a:rPr lang="en-US" altLang="en-GB" sz="2000" b="1" dirty="0">
                <a:latin typeface="Times New Roman" panose="02020603050405020304" pitchFamily="18" charset="0"/>
                <a:cs typeface="Times New Roman" panose="02020603050405020304" pitchFamily="18" charset="0"/>
              </a:rPr>
              <a:t>anomaly detection system </a:t>
            </a:r>
            <a:r>
              <a:rPr lang="en-US" altLang="en-GB" sz="2000" dirty="0">
                <a:latin typeface="Times New Roman" panose="02020603050405020304" pitchFamily="18" charset="0"/>
                <a:cs typeface="Times New Roman" panose="02020603050405020304" pitchFamily="18" charset="0"/>
              </a:rPr>
              <a:t>using entropy and timing analysis.</a:t>
            </a:r>
          </a:p>
          <a:p>
            <a:pPr lvl="1" algn="just"/>
            <a:r>
              <a:rPr lang="en-US" altLang="en-GB" sz="2000" dirty="0">
                <a:latin typeface="Times New Roman" panose="02020603050405020304" pitchFamily="18" charset="0"/>
                <a:cs typeface="Times New Roman" panose="02020603050405020304" pitchFamily="18" charset="0"/>
              </a:rPr>
              <a:t>Generate alerts when suspicious covert exfiltration is identified.</a:t>
            </a:r>
          </a:p>
          <a:p>
            <a:pPr marL="471170" lvl="1"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altLang="en-US" sz="2800" b="1" dirty="0">
                <a:latin typeface="Times New Roman" panose="02020603050405020304" pitchFamily="18" charset="0"/>
                <a:cs typeface="Times New Roman" panose="02020603050405020304" pitchFamily="18" charset="0"/>
              </a:rPr>
              <a:t>Scope</a:t>
            </a:r>
            <a:endParaRPr lang="en-US" sz="2800" dirty="0">
              <a:latin typeface="Times New Roman" panose="02020603050405020304" pitchFamily="18" charset="0"/>
              <a:cs typeface="Times New Roman" panose="02020603050405020304" pitchFamily="18" charset="0"/>
            </a:endParaRPr>
          </a:p>
          <a:p>
            <a:pPr lvl="1" algn="just"/>
            <a:r>
              <a:rPr lang="en-US" altLang="en-GB" sz="2000" dirty="0">
                <a:latin typeface="Times New Roman" panose="02020603050405020304" pitchFamily="18" charset="0"/>
                <a:cs typeface="Times New Roman" panose="02020603050405020304" pitchFamily="18" charset="0"/>
              </a:rPr>
              <a:t>Simulation of attack (keylogger) and defense (detector) in a virtual lab setup.</a:t>
            </a:r>
          </a:p>
          <a:p>
            <a:pPr lvl="1" algn="just"/>
            <a:r>
              <a:rPr lang="en-US" altLang="en-GB" sz="2000" dirty="0">
                <a:latin typeface="Times New Roman" panose="02020603050405020304" pitchFamily="18" charset="0"/>
                <a:cs typeface="Times New Roman" panose="02020603050405020304" pitchFamily="18" charset="0"/>
              </a:rPr>
              <a:t>Focus on </a:t>
            </a:r>
            <a:r>
              <a:rPr lang="en-US" altLang="en-GB" sz="2000" b="1" dirty="0">
                <a:latin typeface="Times New Roman" panose="02020603050405020304" pitchFamily="18" charset="0"/>
                <a:cs typeface="Times New Roman" panose="02020603050405020304" pitchFamily="18" charset="0"/>
              </a:rPr>
              <a:t>DNS tunneling and ICMP timing channels </a:t>
            </a:r>
            <a:r>
              <a:rPr lang="en-US" altLang="en-GB" sz="2000" dirty="0">
                <a:latin typeface="Times New Roman" panose="02020603050405020304" pitchFamily="18" charset="0"/>
                <a:cs typeface="Times New Roman" panose="02020603050405020304" pitchFamily="18" charset="0"/>
              </a:rPr>
              <a:t>as covert communication methods.</a:t>
            </a:r>
          </a:p>
          <a:p>
            <a:pPr lvl="1" algn="just"/>
            <a:r>
              <a:rPr lang="en-US" altLang="en-GB" sz="2000" dirty="0">
                <a:latin typeface="Times New Roman" panose="02020603050405020304" pitchFamily="18" charset="0"/>
                <a:cs typeface="Times New Roman" panose="02020603050405020304" pitchFamily="18" charset="0"/>
              </a:rPr>
              <a:t>Provide a foundation for extending anomaly detection to broader cybersecurity tools.</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371856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Wendzel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DYST (Did You See That?): An Amplified Covert Channel That Points To Previously Seen Data</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Taxonomy extension; DYST variants (Basic/Ext/Remote) with hash-based matching; PoC in Python/Scapy; evaluations using KS-test and compressibility on university/home traffic.</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History channels achieve amplification (h bits/signal); low detectability (AUC~0.5); throughput 29-59 bits/min; enables stealth in constrained environments like IoT/malware C2.</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Dhanushkodi &amp; Thejas (2024)</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AI Enabled Threat Detection: Leveraging Artificial Intelligence for Advanced Security and Cyber Threat Mitigation</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Review of ML/DL techniques (CNN/RNN/GANs); simulations with CICFlowMeter/Metasploit; metrics like AUC-ROC/F1 on sectors (IoT/5G/Industry 5.0).</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AI accuracies 92-98%; hybrids/GANs mitigate imbalance; challenges in real-time/privacy; ongoing collaboration needed for robust digital security.</a:t>
                      </a:r>
                    </a:p>
                  </a:txBody>
                  <a:tcPr/>
                </a:tc>
                <a:extLst>
                  <a:ext uri="{0D108BD9-81ED-4DB2-BD59-A6C34878D82A}">
                    <a16:rowId xmlns:a16="http://schemas.microsoft.com/office/drawing/2014/main" val="10002"/>
                  </a:ext>
                </a:extLst>
              </a:tr>
            </a:tbl>
          </a:graphicData>
        </a:graphic>
      </p:graphicFrame>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7</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custDataLst>
              <p:tags r:id="rId1"/>
            </p:custDataLst>
          </p:nvPr>
        </p:nvGraphicFramePr>
        <p:xfrm>
          <a:off x="812800" y="1602105"/>
          <a:ext cx="10591800" cy="4541520"/>
        </p:xfrm>
        <a:graphic>
          <a:graphicData uri="http://schemas.openxmlformats.org/drawingml/2006/table">
            <a:tbl>
              <a:tblPr firstRow="1" bandRow="1">
                <a:tableStyleId>{5C22544A-7EE6-4342-B048-85BDC9FD1C3A}</a:tableStyleId>
              </a:tblPr>
              <a:tblGrid>
                <a:gridCol w="215519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978785">
                  <a:extLst>
                    <a:ext uri="{9D8B030D-6E8A-4147-A177-3AD203B41FA5}">
                      <a16:colId xmlns:a16="http://schemas.microsoft.com/office/drawing/2014/main" val="20002"/>
                    </a:ext>
                  </a:extLst>
                </a:gridCol>
                <a:gridCol w="2668905">
                  <a:extLst>
                    <a:ext uri="{9D8B030D-6E8A-4147-A177-3AD203B41FA5}">
                      <a16:colId xmlns:a16="http://schemas.microsoft.com/office/drawing/2014/main" val="20003"/>
                    </a:ext>
                  </a:extLst>
                </a:gridCol>
              </a:tblGrid>
              <a:tr h="36576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1554480">
                <a:tc>
                  <a:txBody>
                    <a:bodyPr/>
                    <a:lstStyle/>
                    <a:p>
                      <a:pPr algn="l"/>
                      <a:r>
                        <a:rPr lang="en-US" altLang="en-GB" sz="1600" dirty="0">
                          <a:latin typeface="Times New Roman" panose="02020603050405020304" pitchFamily="18" charset="0"/>
                          <a:cs typeface="Times New Roman" panose="02020603050405020304" pitchFamily="18" charset="0"/>
                        </a:rPr>
                        <a:t>Alketbi &amp; Mehmood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 Comprehensive Survey of Explainable Artificial Intelligence Techniques for Malicious Insider Threat Detection</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Systematic review categorizing XAI (SHAP/LIME) with ML/DL; datasets (DNSLog/CICIDS17); conceptual framework for ITD challenges.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XAI enhances transparency/trust; reduces false positives; gaps in imbalance/heterogeneity; future: privacy AI/human-loop benchmarks.</a:t>
                      </a:r>
                    </a:p>
                  </a:txBody>
                  <a:tcPr/>
                </a:tc>
                <a:extLst>
                  <a:ext uri="{0D108BD9-81ED-4DB2-BD59-A6C34878D82A}">
                    <a16:rowId xmlns:a16="http://schemas.microsoft.com/office/drawing/2014/main" val="10001"/>
                  </a:ext>
                </a:extLst>
              </a:tr>
              <a:tr h="13106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Vasilas &amp; Brad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 Decade in Software-Based Side and Covert Channel Attacks and Countermeasures: A Survey</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Citation-based review (&gt;100 cites, 2016-2025); classification by components/mechanisms; comparative analysis (reliability/overhead).</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Cache attacks dominant; defenses (constant time/noise) effective but overhead-heavy; trends: remote thermal; challenges in cloud/multicore.</a:t>
                      </a:r>
                    </a:p>
                  </a:txBody>
                  <a:tcPr/>
                </a:tc>
                <a:extLst>
                  <a:ext uri="{0D108BD9-81ED-4DB2-BD59-A6C34878D82A}">
                    <a16:rowId xmlns:a16="http://schemas.microsoft.com/office/drawing/2014/main" val="10002"/>
                  </a:ext>
                </a:extLst>
              </a:tr>
              <a:tr h="13106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Clinton &amp; Hoque (2024)</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MU-IoT: A New IoT Intrusion Dataset for Network and Application Layer Attacks Analysis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Testbed collection (30+ devices); 121 features/34.8M records/16 attacks; EDA/ML baselines.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Covers app protocols (AMQP/XMPP); aids centralized/federated IDMS; realistic for cybersecurity validation.</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a:xfrm>
            <a:off x="812800" y="6237204"/>
            <a:ext cx="2641600" cy="476250"/>
          </a:xfrm>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8</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429768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Rakine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Comprehensive Review of Intrusion Detection Techniques: ML and DL in Different Networks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Literature classification by networks (CC/IoT/SDN); overview of techniques/datasets (NSL-KDD); strengths/limitations analysis.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DL excels in IoT anomalies; ML scalable in SDN; network context critical; proposes hybrid approaches for tailored IDS.</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Zhen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Anomaly Detection Model in Network Security Situational Awareness Based on Machine Learning: Limitation, Techniques, and Future Trends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Systematic review of ML/DL (autoencoder/GAN/LSTM); propose AFEMAD (multimodal fusion/FL/adaptive); challenge analysis.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Traditional insufficient vs. complex threats; AFEMAD addresses fusion/interpretability/privacy; guidance for scalable NSSA.</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Tankovic et al.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A Survey on Data Plane Security in Software-Defined Networks: Toward Adaptive Security of Data Planes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Classify attacks (STRIDE/CIA/AAA); analyze solutions/experiments; propose adaptive mechanism combinations.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Data plane understudied; adaptive protects dynamics; performance constraints; future AI enhancements for SDN.</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9</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454152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Ankalaki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Cyber Attack Prediction: From Traditional Machine Learning to Generative Artificial Intelligence</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Comparative ML/DL/XAI/GenAI/NLP; benchmarks (KDD99/CICIDS2017); trends in simulations/threat intel.</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Proactive AI key; GenAI aids malware/password gen; data scarcity/adversarial issues; improves security posture via interpretability.</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Alorainy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Echoes From the Void: Detecting DNS Tunneling With Blackhole Features in Encrypted Scenarios With High Accuracy</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Blackhole simulation for behavioral features (retry/switch) + traditional metrics; random forest on GraphTunnel/CIC-Bell datasets.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99.9% accuracy/F1; blackhole features dominant; lightweight for encrypted real-time; modular SIEM integration.</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Filho et al.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Exploiting Temporal Variability in TCP Timestamps for Covert Channel Design</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Two models embedding in TCP timestamp uncertainty; real-network experiments for indistinguishability/robustness.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Statistically blends with traffic; robust to loss/detection; enhances stealth/reliability over priors for secure covert transmission.</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a:xfrm>
            <a:off x="812800" y="6381582"/>
            <a:ext cx="2641600" cy="476250"/>
          </a:xfrm>
        </p:spPr>
        <p:txBody>
          <a:bodyPr/>
          <a:lstStyle/>
          <a:p>
            <a:r>
              <a:rPr lang="en-US"/>
              <a:t>Final Review – Phase 1</a:t>
            </a:r>
            <a:endParaRPr lang="en-IN" dirty="0"/>
          </a:p>
        </p:txBody>
      </p:sp>
      <p:sp>
        <p:nvSpPr>
          <p:cNvPr id="5" name="Footer Placeholder 4"/>
          <p:cNvSpPr>
            <a:spLocks noGrp="1"/>
          </p:cNvSpPr>
          <p:nvPr>
            <p:ph type="ftr" sz="quarter" idx="11"/>
          </p:nvPr>
        </p:nvSpPr>
        <p:spPr>
          <a:xfrm>
            <a:off x="4165600" y="6349498"/>
            <a:ext cx="3860800" cy="476250"/>
          </a:xfrm>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a:xfrm>
            <a:off x="8737600" y="6357519"/>
            <a:ext cx="2641600" cy="476250"/>
          </a:xfrm>
        </p:spPr>
        <p:txBody>
          <a:bodyPr/>
          <a:lstStyle/>
          <a:p>
            <a:fld id="{5AB9ECBD-B4DD-40D5-8D24-9ECCDBB1583E}" type="slidenum">
              <a:rPr lang="en-IN" smtClean="0"/>
              <a:t>10</a:t>
            </a:fld>
            <a:endParaRPr lang="en-IN" dirty="0"/>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356616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Ichise et al.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RPZ-Based Suspicious Direct Outbound DNS Traffic Detection Mechanism With Adaptive Policy Updates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RPZ registration of NS/glue records; mismatch flagging in SDN prototype; adaptive policy evaluation.</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Accurate C&amp;C detection/blocking; low overhead; deployable for pre-attack malware concealment.</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Maz et al. (2024)</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Majority Voting Ensemble Classifier for Detecting Keylogging Attack on Internet of Things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Ensemble (CNN/RNN/LSTM) with majority voting on BoT-IoT; compare to singles for accuracy/FPR.</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High accuracy/low FPR; superior keylogging detection; improves IoT IDS with minimal disruption.</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Razooqi &amp; Pekar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VPN Traffic Analysis: A Survey on Detection and Application Identification</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Systematic review (2016-2025); analyze features/methods/datasets for VPN/protocol/app tasks.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Encryption blinds DPI; DL trends effective; dataset limits; future new datasets for security/QoS.</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11</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12800" y="1802280"/>
          <a:ext cx="10591800" cy="3566160"/>
        </p:xfrm>
        <a:graphic>
          <a:graphicData uri="http://schemas.openxmlformats.org/drawingml/2006/table">
            <a:tbl>
              <a:tblPr firstRow="1" bandRow="1">
                <a:tableStyleId>{5C22544A-7EE6-4342-B048-85BDC9FD1C3A}</a:tableStyleId>
              </a:tblPr>
              <a:tblGrid>
                <a:gridCol w="2155092">
                  <a:extLst>
                    <a:ext uri="{9D8B030D-6E8A-4147-A177-3AD203B41FA5}">
                      <a16:colId xmlns:a16="http://schemas.microsoft.com/office/drawing/2014/main" val="20000"/>
                    </a:ext>
                  </a:extLst>
                </a:gridCol>
                <a:gridCol w="2789279">
                  <a:extLst>
                    <a:ext uri="{9D8B030D-6E8A-4147-A177-3AD203B41FA5}">
                      <a16:colId xmlns:a16="http://schemas.microsoft.com/office/drawing/2014/main" val="20001"/>
                    </a:ext>
                  </a:extLst>
                </a:gridCol>
                <a:gridCol w="2978675">
                  <a:extLst>
                    <a:ext uri="{9D8B030D-6E8A-4147-A177-3AD203B41FA5}">
                      <a16:colId xmlns:a16="http://schemas.microsoft.com/office/drawing/2014/main" val="20002"/>
                    </a:ext>
                  </a:extLst>
                </a:gridCol>
                <a:gridCol w="2668754">
                  <a:extLst>
                    <a:ext uri="{9D8B030D-6E8A-4147-A177-3AD203B41FA5}">
                      <a16:colId xmlns:a16="http://schemas.microsoft.com/office/drawing/2014/main" val="20003"/>
                    </a:ext>
                  </a:extLst>
                </a:gridCol>
              </a:tblGrid>
              <a:tr h="0">
                <a:tc>
                  <a:txBody>
                    <a:bodyPr/>
                    <a:lstStyle/>
                    <a:p>
                      <a:pPr algn="ctr"/>
                      <a:r>
                        <a:rPr lang="en-IN" dirty="0">
                          <a:latin typeface="Times New Roman" panose="02020603050405020304" pitchFamily="18" charset="0"/>
                          <a:cs typeface="Times New Roman" panose="02020603050405020304" pitchFamily="18" charset="0"/>
                        </a:rPr>
                        <a:t>Author(s) / Year</a:t>
                      </a:r>
                    </a:p>
                  </a:txBody>
                  <a:tcPr/>
                </a:tc>
                <a:tc>
                  <a:txBody>
                    <a:bodyPr/>
                    <a:lstStyle/>
                    <a:p>
                      <a:pPr algn="ctr"/>
                      <a:r>
                        <a:rPr lang="en-IN" dirty="0">
                          <a:latin typeface="Times New Roman" panose="02020603050405020304" pitchFamily="18" charset="0"/>
                          <a:cs typeface="Times New Roman" panose="02020603050405020304" pitchFamily="18" charset="0"/>
                        </a:rPr>
                        <a:t>Title of</a:t>
                      </a:r>
                      <a:r>
                        <a:rPr lang="en-IN" baseline="0" dirty="0">
                          <a:latin typeface="Times New Roman" panose="02020603050405020304" pitchFamily="18" charset="0"/>
                          <a:cs typeface="Times New Roman" panose="02020603050405020304" pitchFamily="18" charset="0"/>
                        </a:rPr>
                        <a:t> the Paper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IN" dirty="0">
                          <a:latin typeface="Times New Roman" panose="02020603050405020304" pitchFamily="18" charset="0"/>
                          <a:cs typeface="Times New Roman" panose="02020603050405020304" pitchFamily="18" charset="0"/>
                        </a:rPr>
                        <a:t>Methodology / Approach</a:t>
                      </a:r>
                    </a:p>
                  </a:txBody>
                  <a:tcPr/>
                </a:tc>
                <a:tc>
                  <a:txBody>
                    <a:bodyPr/>
                    <a:lstStyle/>
                    <a:p>
                      <a:pPr algn="ctr"/>
                      <a:r>
                        <a:rPr lang="en-IN"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399121">
                <a:tc>
                  <a:txBody>
                    <a:bodyPr/>
                    <a:lstStyle/>
                    <a:p>
                      <a:pPr algn="l"/>
                      <a:r>
                        <a:rPr lang="en-US" altLang="en-GB" sz="1600" dirty="0">
                          <a:latin typeface="Times New Roman" panose="02020603050405020304" pitchFamily="18" charset="0"/>
                          <a:cs typeface="Times New Roman" panose="02020603050405020304" pitchFamily="18" charset="0"/>
                        </a:rPr>
                        <a:t>Zhang et al. (2024)</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Threat Detection Framework Based on Industrial Internet of Things Logs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Ontology/prompt extraction + temporal GNN anomaly + Sigma rule mapping; eval on DARPA datasets.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94.38% recall/83.78% precision; contextual attack linking; aids IIoT analysts vs. quantitative gaps.</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Ness (2025)</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Securing Networks Against Adversarial Domain Name System Tunneling Attacks Using Hybrid Neural Networks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Hybrid LSTM/DNN for temporal/feature extraction; ablation on broad dataset for perturbations.</a:t>
                      </a:r>
                    </a:p>
                  </a:txBody>
                  <a:tcPr/>
                </a:tc>
                <a:tc>
                  <a:txBody>
                    <a:bodyPr/>
                    <a:lstStyle/>
                    <a:p>
                      <a:pPr algn="l"/>
                      <a:r>
                        <a:rPr lang="en-US" altLang="en-GB" sz="1600" dirty="0">
                          <a:latin typeface="Times New Roman" panose="02020603050405020304" pitchFamily="18" charset="0"/>
                          <a:cs typeface="Times New Roman" panose="02020603050405020304" pitchFamily="18" charset="0"/>
                        </a:rPr>
                        <a:t>85.2% accuracy &gt; ML; LSTM/dropout critical; scalable for adversarial DNS in finance/health.</a:t>
                      </a:r>
                    </a:p>
                  </a:txBody>
                  <a:tcPr/>
                </a:tc>
                <a:extLst>
                  <a:ext uri="{0D108BD9-81ED-4DB2-BD59-A6C34878D82A}">
                    <a16:rowId xmlns:a16="http://schemas.microsoft.com/office/drawing/2014/main" val="100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GB" sz="1600" dirty="0">
                          <a:latin typeface="Times New Roman" panose="02020603050405020304" pitchFamily="18" charset="0"/>
                          <a:cs typeface="Times New Roman" panose="02020603050405020304" pitchFamily="18" charset="0"/>
                        </a:rPr>
                        <a:t>Kheddar et al. (2025)</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Reinforcement-Learning-Based Intrusion Detection in Communication Networks: A Review</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Categorize DRL/IDS/DRL-IDS; taxonomy (techniques/environments); comparative datasets/metrics.</a:t>
                      </a:r>
                    </a:p>
                  </a:txBody>
                  <a:tcPr/>
                </a:tc>
                <a:tc>
                  <a:txBody>
                    <a:bodyPr/>
                    <a:lstStyle/>
                    <a:p>
                      <a:pPr algn="l">
                        <a:buNone/>
                      </a:pPr>
                      <a:r>
                        <a:rPr lang="en-US" altLang="en-GB" sz="1600" dirty="0">
                          <a:latin typeface="Times New Roman" panose="02020603050405020304" pitchFamily="18" charset="0"/>
                          <a:cs typeface="Times New Roman" panose="02020603050405020304" pitchFamily="18" charset="0"/>
                        </a:rPr>
                        <a:t>DRL solves sequential IDS; unique triple focus; gains in IoT/ICS; future algos for secure nets.</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5AB9ECBD-B4DD-40D5-8D24-9ECCDBB1583E}" type="slidenum">
              <a:rPr lang="en-IN" smtClean="0"/>
              <a:t>12</a:t>
            </a:fld>
            <a:endParaRPr lang="en-IN"/>
          </a:p>
        </p:txBody>
      </p:sp>
      <p:sp>
        <p:nvSpPr>
          <p:cNvPr id="8" name="Title 7"/>
          <p:cNvSpPr>
            <a:spLocks noGrp="1"/>
          </p:cNvSpPr>
          <p:nvPr>
            <p:ph type="title"/>
          </p:nvPr>
        </p:nvSpPr>
        <p:spPr/>
        <p:txBody>
          <a:bodyPr/>
          <a:lstStyle/>
          <a:p>
            <a:pPr algn="ctr"/>
            <a:r>
              <a:rPr lang="en-US" altLang="en-IN" sz="3200" b="1" dirty="0">
                <a:solidFill>
                  <a:srgbClr val="FF0000"/>
                </a:solidFill>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METHODOLOGY</a:t>
            </a:r>
            <a:endParaRPr lang="en-GB" altLang="en-US" dirty="0"/>
          </a:p>
        </p:txBody>
      </p:sp>
      <p:sp>
        <p:nvSpPr>
          <p:cNvPr id="3" name="Content Placeholder 2"/>
          <p:cNvSpPr>
            <a:spLocks noGrp="1"/>
          </p:cNvSpPr>
          <p:nvPr>
            <p:ph idx="1"/>
          </p:nvPr>
        </p:nvSpPr>
        <p:spPr/>
        <p:txBody>
          <a:bodyPr/>
          <a:lstStyle/>
          <a:p>
            <a:pPr algn="just">
              <a:lnSpc>
                <a:spcPct val="150000"/>
              </a:lnSpc>
            </a:pPr>
            <a:r>
              <a:rPr lang="en-US" altLang="en-GB" sz="1600" dirty="0"/>
              <a:t>This approach i</a:t>
            </a:r>
            <a:r>
              <a:rPr lang="en-US" sz="1600" dirty="0"/>
              <a:t>ntegrates </a:t>
            </a:r>
            <a:r>
              <a:rPr lang="en-US" sz="1600" b="1" dirty="0"/>
              <a:t>network forensics</a:t>
            </a:r>
            <a:r>
              <a:rPr lang="en-US" sz="1600" dirty="0"/>
              <a:t>, </a:t>
            </a:r>
            <a:r>
              <a:rPr lang="en-US" sz="1600" b="1" dirty="0"/>
              <a:t>covert channel analysis</a:t>
            </a:r>
            <a:r>
              <a:rPr lang="en-US" sz="1600" dirty="0"/>
              <a:t>, and </a:t>
            </a:r>
            <a:r>
              <a:rPr lang="en-US" sz="1600" b="1" dirty="0"/>
              <a:t>anomaly detection</a:t>
            </a:r>
            <a:r>
              <a:rPr lang="en-US" sz="1600" dirty="0"/>
              <a:t> to identify hidden keylogging activity.</a:t>
            </a:r>
          </a:p>
          <a:p>
            <a:pPr algn="just">
              <a:lnSpc>
                <a:spcPct val="150000"/>
              </a:lnSpc>
            </a:pPr>
            <a:r>
              <a:rPr lang="en-US" sz="1600" dirty="0"/>
              <a:t>Focuses on detecting </a:t>
            </a:r>
            <a:r>
              <a:rPr lang="en-US" sz="1600" b="1" dirty="0"/>
              <a:t>DNS-based and ICMP-based covert exfiltration</a:t>
            </a:r>
            <a:r>
              <a:rPr lang="en-US" sz="1600" dirty="0"/>
              <a:t> used by the keylogger.</a:t>
            </a:r>
            <a:endParaRPr lang="en-US" altLang="en-GB" sz="1600" dirty="0"/>
          </a:p>
          <a:p>
            <a:pPr algn="just">
              <a:lnSpc>
                <a:spcPct val="150000"/>
              </a:lnSpc>
            </a:pPr>
            <a:r>
              <a:rPr lang="en-US" sz="1600" dirty="0"/>
              <a:t>Implemented using </a:t>
            </a:r>
            <a:r>
              <a:rPr lang="en-US" sz="1600" b="1" dirty="0"/>
              <a:t>VMWare Workstation </a:t>
            </a:r>
            <a:r>
              <a:rPr lang="en-US" sz="1600" dirty="0"/>
              <a:t>with </a:t>
            </a:r>
            <a:r>
              <a:rPr lang="en-US" sz="1600" b="1" dirty="0"/>
              <a:t>two Kali Linux VMs</a:t>
            </a:r>
            <a:r>
              <a:rPr lang="en-US" sz="1600" dirty="0"/>
              <a:t>.</a:t>
            </a:r>
            <a:r>
              <a:rPr lang="en-US" altLang="en-GB" sz="1600" dirty="0"/>
              <a:t> </a:t>
            </a:r>
          </a:p>
          <a:p>
            <a:pPr lvl="1" algn="just">
              <a:lnSpc>
                <a:spcPct val="150000"/>
              </a:lnSpc>
            </a:pPr>
            <a:r>
              <a:rPr lang="en-US" altLang="en-US" sz="1400" b="1" dirty="0"/>
              <a:t>Victim VM</a:t>
            </a:r>
            <a:r>
              <a:rPr lang="en-US" altLang="en-US" sz="1400" dirty="0"/>
              <a:t>: Runs the covert keylogger and performs DNS/ICMP covert data exfiltration.</a:t>
            </a:r>
          </a:p>
          <a:p>
            <a:pPr lvl="1" algn="just">
              <a:lnSpc>
                <a:spcPct val="150000"/>
              </a:lnSpc>
            </a:pPr>
            <a:r>
              <a:rPr lang="en-US" altLang="en-US" sz="1400" b="1" dirty="0"/>
              <a:t>Detector VM</a:t>
            </a:r>
            <a:r>
              <a:rPr lang="en-US" altLang="en-US" sz="1400" dirty="0"/>
              <a:t>: Monitors network packets, applies detection algorithms, and logs anomalies.</a:t>
            </a:r>
            <a:endParaRPr lang="en-US" altLang="en-GB" sz="1600" dirty="0"/>
          </a:p>
          <a:p>
            <a:pPr algn="just">
              <a:lnSpc>
                <a:spcPct val="150000"/>
              </a:lnSpc>
            </a:pPr>
            <a:r>
              <a:rPr lang="en-US" sz="1600" dirty="0"/>
              <a:t>VMs connected using a </a:t>
            </a:r>
            <a:r>
              <a:rPr lang="en-US" sz="1600" b="1" dirty="0"/>
              <a:t>Private NAT network</a:t>
            </a:r>
            <a:r>
              <a:rPr lang="en-US" sz="1600" dirty="0"/>
              <a:t>, isolating traffic within the lab environment.</a:t>
            </a:r>
            <a:endParaRPr lang="en-US" sz="1200" dirty="0"/>
          </a:p>
          <a:p>
            <a:pPr algn="just">
              <a:lnSpc>
                <a:spcPct val="150000"/>
              </a:lnSpc>
            </a:pPr>
            <a:r>
              <a:rPr lang="en-US" sz="1600" dirty="0"/>
              <a:t>This project mainly involves two modules – Attacker and Detection Module </a:t>
            </a:r>
          </a:p>
        </p:txBody>
      </p:sp>
      <p:sp>
        <p:nvSpPr>
          <p:cNvPr id="4" name="Date Placeholder 3"/>
          <p:cNvSpPr>
            <a:spLocks noGrp="1"/>
          </p:cNvSpPr>
          <p:nvPr>
            <p:ph type="dt" sz="half" idx="10"/>
          </p:nvPr>
        </p:nvSpPr>
        <p:spPr>
          <a:xfrm>
            <a:off x="812800" y="6237204"/>
            <a:ext cx="2641600" cy="476250"/>
          </a:xfrm>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13</a:t>
            </a:fld>
            <a:endParaRPr lang="en-US" altLang="en-US"/>
          </a:p>
        </p:txBody>
      </p:sp>
      <p:sp>
        <p:nvSpPr>
          <p:cNvPr id="14" name="Rectangle 8">
            <a:extLst>
              <a:ext uri="{FF2B5EF4-FFF2-40B4-BE49-F238E27FC236}">
                <a16:creationId xmlns:a16="http://schemas.microsoft.com/office/drawing/2014/main" id="{817C97CE-E404-6E08-536D-F685E14FC7A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CE909-A984-F690-5A1D-F0658B7BD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C7B038-BAA4-EA0F-8FBA-00415490614E}"/>
              </a:ext>
            </a:extLst>
          </p:cNvPr>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METHODOLOGY – ATTACKER MODULE</a:t>
            </a:r>
            <a:endParaRPr lang="en-GB" altLang="en-US" dirty="0"/>
          </a:p>
        </p:txBody>
      </p:sp>
      <p:sp>
        <p:nvSpPr>
          <p:cNvPr id="3" name="Content Placeholder 2">
            <a:extLst>
              <a:ext uri="{FF2B5EF4-FFF2-40B4-BE49-F238E27FC236}">
                <a16:creationId xmlns:a16="http://schemas.microsoft.com/office/drawing/2014/main" id="{3C688ABC-F316-4A17-8CD7-39E1056BCD71}"/>
              </a:ext>
            </a:extLst>
          </p:cNvPr>
          <p:cNvSpPr>
            <a:spLocks noGrp="1"/>
          </p:cNvSpPr>
          <p:nvPr>
            <p:ph idx="1"/>
          </p:nvPr>
        </p:nvSpPr>
        <p:spPr/>
        <p:txBody>
          <a:bodyPr/>
          <a:lstStyle/>
          <a:p>
            <a:pPr algn="just">
              <a:lnSpc>
                <a:spcPct val="150000"/>
              </a:lnSpc>
            </a:pPr>
            <a:r>
              <a:rPr lang="en-IN" sz="1600" dirty="0"/>
              <a:t>Keylogging implemented using </a:t>
            </a:r>
            <a:r>
              <a:rPr lang="en-IN" sz="1600" b="1" dirty="0"/>
              <a:t>Python’s </a:t>
            </a:r>
            <a:r>
              <a:rPr lang="en-IN" sz="1600" b="1" dirty="0" err="1"/>
              <a:t>evdev</a:t>
            </a:r>
            <a:r>
              <a:rPr lang="en-IN" sz="1600" b="1" dirty="0"/>
              <a:t> library</a:t>
            </a:r>
            <a:r>
              <a:rPr lang="en-IN" sz="1600" dirty="0"/>
              <a:t>, capturing keystrokes directly from Linux input devices.</a:t>
            </a:r>
          </a:p>
          <a:p>
            <a:pPr algn="just">
              <a:lnSpc>
                <a:spcPct val="150000"/>
              </a:lnSpc>
            </a:pPr>
            <a:r>
              <a:rPr lang="en-IN" sz="1600" dirty="0"/>
              <a:t>Covert exfiltration techniques include </a:t>
            </a:r>
            <a:r>
              <a:rPr lang="en-IN" sz="1600" b="1" dirty="0"/>
              <a:t>DNS </a:t>
            </a:r>
            <a:r>
              <a:rPr lang="en-IN" sz="1600" dirty="0"/>
              <a:t>and </a:t>
            </a:r>
            <a:r>
              <a:rPr lang="en-IN" sz="1600" b="1" dirty="0"/>
              <a:t>ICMP Covert Channels:</a:t>
            </a:r>
            <a:endParaRPr lang="en-IN" sz="1600" dirty="0"/>
          </a:p>
          <a:p>
            <a:pPr lvl="1" algn="just">
              <a:lnSpc>
                <a:spcPct val="150000"/>
              </a:lnSpc>
            </a:pPr>
            <a:r>
              <a:rPr lang="en-IN" sz="1400" b="1" dirty="0"/>
              <a:t>DNS covert channel</a:t>
            </a:r>
            <a:r>
              <a:rPr lang="en-IN" sz="1400" dirty="0"/>
              <a:t>: Encodes keystrokes inside DNS subdomains or query strings.</a:t>
            </a:r>
          </a:p>
          <a:p>
            <a:pPr lvl="1" algn="just">
              <a:lnSpc>
                <a:spcPct val="150000"/>
              </a:lnSpc>
            </a:pPr>
            <a:r>
              <a:rPr lang="en-US" sz="1400" b="1" dirty="0"/>
              <a:t>ICMP covert channel</a:t>
            </a:r>
            <a:r>
              <a:rPr lang="en-US" sz="1400" dirty="0"/>
              <a:t>: Embeds keystrokes in ICMP payloads or manipulates timing intervals to signal data.</a:t>
            </a:r>
            <a:endParaRPr lang="en-IN" sz="1400" dirty="0"/>
          </a:p>
          <a:p>
            <a:pPr algn="just">
              <a:lnSpc>
                <a:spcPct val="150000"/>
              </a:lnSpc>
            </a:pPr>
            <a:r>
              <a:rPr lang="en-US" sz="1600" dirty="0"/>
              <a:t>Designed to blend with </a:t>
            </a:r>
            <a:r>
              <a:rPr lang="en-US" sz="1600" b="1" dirty="0"/>
              <a:t>legitimate system traffic</a:t>
            </a:r>
            <a:r>
              <a:rPr lang="en-US" sz="1600" dirty="0"/>
              <a:t>, making detection harder.</a:t>
            </a:r>
            <a:endParaRPr lang="en-IN" sz="1600" dirty="0"/>
          </a:p>
        </p:txBody>
      </p:sp>
      <p:sp>
        <p:nvSpPr>
          <p:cNvPr id="4" name="Date Placeholder 3">
            <a:extLst>
              <a:ext uri="{FF2B5EF4-FFF2-40B4-BE49-F238E27FC236}">
                <a16:creationId xmlns:a16="http://schemas.microsoft.com/office/drawing/2014/main" id="{6E6AD8EC-C02E-4C04-EBB2-0E35455A22AB}"/>
              </a:ext>
            </a:extLst>
          </p:cNvPr>
          <p:cNvSpPr>
            <a:spLocks noGrp="1"/>
          </p:cNvSpPr>
          <p:nvPr>
            <p:ph type="dt" sz="half" idx="10"/>
          </p:nvPr>
        </p:nvSpPr>
        <p:spPr>
          <a:xfrm>
            <a:off x="812800" y="6237204"/>
            <a:ext cx="2641600" cy="476250"/>
          </a:xfrm>
        </p:spPr>
        <p:txBody>
          <a:bodyPr/>
          <a:lstStyle/>
          <a:p>
            <a:r>
              <a:rPr lang="en-US"/>
              <a:t>Final Review – Phase 1</a:t>
            </a:r>
            <a:endParaRPr lang="en-IN" dirty="0"/>
          </a:p>
        </p:txBody>
      </p:sp>
      <p:sp>
        <p:nvSpPr>
          <p:cNvPr id="5" name="Footer Placeholder 4">
            <a:extLst>
              <a:ext uri="{FF2B5EF4-FFF2-40B4-BE49-F238E27FC236}">
                <a16:creationId xmlns:a16="http://schemas.microsoft.com/office/drawing/2014/main" id="{C47CFF97-F406-241E-C709-72D45A2F9174}"/>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956515B9-5DE0-9EEA-BB92-F228B0E19E31}"/>
              </a:ext>
            </a:extLst>
          </p:cNvPr>
          <p:cNvSpPr>
            <a:spLocks noGrp="1"/>
          </p:cNvSpPr>
          <p:nvPr>
            <p:ph type="sldNum" sz="quarter" idx="12"/>
          </p:nvPr>
        </p:nvSpPr>
        <p:spPr/>
        <p:txBody>
          <a:bodyPr/>
          <a:lstStyle/>
          <a:p>
            <a:pPr>
              <a:defRPr/>
            </a:pPr>
            <a:fld id="{BDC2143B-610F-499C-A392-DFFBE135A7B2}" type="slidenum">
              <a:rPr lang="en-US" altLang="en-US"/>
              <a:t>14</a:t>
            </a:fld>
            <a:endParaRPr lang="en-US" altLang="en-US"/>
          </a:p>
        </p:txBody>
      </p:sp>
      <p:sp>
        <p:nvSpPr>
          <p:cNvPr id="14" name="Rectangle 8">
            <a:extLst>
              <a:ext uri="{FF2B5EF4-FFF2-40B4-BE49-F238E27FC236}">
                <a16:creationId xmlns:a16="http://schemas.microsoft.com/office/drawing/2014/main" id="{ADAF1DAB-5E63-A8A0-9A00-0B8B0ECBE95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0946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F865-B3F9-3353-D344-4956E09FF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7FC12-FA7B-E2B3-32E4-9141B3F7F25A}"/>
              </a:ext>
            </a:extLst>
          </p:cNvPr>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METHODOLOGY – DETECTION MODULE</a:t>
            </a:r>
            <a:endParaRPr lang="en-GB" altLang="en-US" dirty="0"/>
          </a:p>
        </p:txBody>
      </p:sp>
      <p:sp>
        <p:nvSpPr>
          <p:cNvPr id="3" name="Content Placeholder 2">
            <a:extLst>
              <a:ext uri="{FF2B5EF4-FFF2-40B4-BE49-F238E27FC236}">
                <a16:creationId xmlns:a16="http://schemas.microsoft.com/office/drawing/2014/main" id="{C5DF1163-5327-E459-B316-09B9F5353611}"/>
              </a:ext>
            </a:extLst>
          </p:cNvPr>
          <p:cNvSpPr>
            <a:spLocks noGrp="1"/>
          </p:cNvSpPr>
          <p:nvPr>
            <p:ph idx="1"/>
          </p:nvPr>
        </p:nvSpPr>
        <p:spPr/>
        <p:txBody>
          <a:bodyPr/>
          <a:lstStyle/>
          <a:p>
            <a:pPr algn="just">
              <a:lnSpc>
                <a:spcPct val="150000"/>
              </a:lnSpc>
            </a:pPr>
            <a:r>
              <a:rPr lang="en-US" altLang="en-US" sz="1600" dirty="0"/>
              <a:t>Uses </a:t>
            </a:r>
            <a:r>
              <a:rPr lang="en-US" altLang="en-US" sz="1600" b="1" dirty="0" err="1"/>
              <a:t>scapy</a:t>
            </a:r>
            <a:r>
              <a:rPr lang="en-US" altLang="en-US" sz="1600" dirty="0"/>
              <a:t> and </a:t>
            </a:r>
            <a:r>
              <a:rPr lang="en-US" altLang="en-US" sz="1600" b="1" dirty="0" err="1"/>
              <a:t>tshark</a:t>
            </a:r>
            <a:r>
              <a:rPr lang="en-US" altLang="en-US" sz="1600" dirty="0"/>
              <a:t> for continuous packet capture and protocol-level inspection on Kali Linux.</a:t>
            </a:r>
            <a:endParaRPr lang="en-IN" sz="1600" dirty="0"/>
          </a:p>
          <a:p>
            <a:pPr algn="just">
              <a:lnSpc>
                <a:spcPct val="150000"/>
              </a:lnSpc>
            </a:pPr>
            <a:r>
              <a:rPr lang="en-IN" sz="1600" dirty="0"/>
              <a:t>Two Statistical methods:</a:t>
            </a:r>
          </a:p>
          <a:p>
            <a:pPr lvl="1" algn="just">
              <a:lnSpc>
                <a:spcPct val="150000"/>
              </a:lnSpc>
            </a:pPr>
            <a:r>
              <a:rPr lang="en-IN" sz="1400" b="1" dirty="0"/>
              <a:t>Entropy Analysis (DNS Detection)</a:t>
            </a:r>
            <a:r>
              <a:rPr lang="en-IN" sz="1400" dirty="0"/>
              <a:t>: </a:t>
            </a:r>
            <a:r>
              <a:rPr lang="en-US" sz="1400" dirty="0"/>
              <a:t>Flags unusually high randomness in DNS payloads.</a:t>
            </a:r>
          </a:p>
          <a:p>
            <a:pPr lvl="1" algn="just">
              <a:lnSpc>
                <a:spcPct val="150000"/>
              </a:lnSpc>
            </a:pPr>
            <a:r>
              <a:rPr lang="en-IN" sz="1400" b="1" dirty="0"/>
              <a:t>Kolmogorov-Smirnov Test(KS-Test) on ICMP Timing</a:t>
            </a:r>
            <a:r>
              <a:rPr lang="en-US" sz="1400" dirty="0"/>
              <a:t>: Compares ICMP inter-arrival times with baseline to detect timing anomalies</a:t>
            </a:r>
            <a:r>
              <a:rPr lang="en-US" sz="1200" dirty="0"/>
              <a:t>.</a:t>
            </a:r>
          </a:p>
          <a:p>
            <a:pPr algn="just">
              <a:lnSpc>
                <a:spcPct val="150000"/>
              </a:lnSpc>
            </a:pPr>
            <a:r>
              <a:rPr lang="en-IN" sz="1600" dirty="0"/>
              <a:t>Implements </a:t>
            </a:r>
            <a:r>
              <a:rPr lang="en-IN" sz="1600" b="1" dirty="0"/>
              <a:t>adaptive baselining</a:t>
            </a:r>
            <a:r>
              <a:rPr lang="en-IN" sz="1600" dirty="0"/>
              <a:t>:</a:t>
            </a:r>
          </a:p>
          <a:p>
            <a:pPr lvl="1" algn="just">
              <a:lnSpc>
                <a:spcPct val="150000"/>
              </a:lnSpc>
            </a:pPr>
            <a:r>
              <a:rPr lang="en-US" altLang="en-US" sz="1400" dirty="0"/>
              <a:t>First records normal DNS and ICMP behavior.</a:t>
            </a:r>
          </a:p>
          <a:p>
            <a:pPr lvl="1" algn="just">
              <a:lnSpc>
                <a:spcPct val="150000"/>
              </a:lnSpc>
            </a:pPr>
            <a:r>
              <a:rPr lang="en-US" sz="1400" dirty="0"/>
              <a:t>Then raises alerts when live traffic deviates beyond defined thresholds.</a:t>
            </a:r>
          </a:p>
          <a:p>
            <a:pPr marL="471170" lvl="1" indent="0" algn="just">
              <a:lnSpc>
                <a:spcPct val="150000"/>
              </a:lnSpc>
              <a:buNone/>
            </a:pPr>
            <a:endParaRPr lang="en-IN" sz="1200" dirty="0"/>
          </a:p>
        </p:txBody>
      </p:sp>
      <p:sp>
        <p:nvSpPr>
          <p:cNvPr id="4" name="Date Placeholder 3">
            <a:extLst>
              <a:ext uri="{FF2B5EF4-FFF2-40B4-BE49-F238E27FC236}">
                <a16:creationId xmlns:a16="http://schemas.microsoft.com/office/drawing/2014/main" id="{3C63CAC6-77D2-88C6-D124-8D204135EB4B}"/>
              </a:ext>
            </a:extLst>
          </p:cNvPr>
          <p:cNvSpPr>
            <a:spLocks noGrp="1"/>
          </p:cNvSpPr>
          <p:nvPr>
            <p:ph type="dt" sz="half" idx="10"/>
          </p:nvPr>
        </p:nvSpPr>
        <p:spPr>
          <a:xfrm>
            <a:off x="812800" y="6237204"/>
            <a:ext cx="2641600" cy="476250"/>
          </a:xfrm>
        </p:spPr>
        <p:txBody>
          <a:bodyPr/>
          <a:lstStyle/>
          <a:p>
            <a:r>
              <a:rPr lang="en-US"/>
              <a:t>Final Review – Phase 1</a:t>
            </a:r>
            <a:endParaRPr lang="en-IN" dirty="0"/>
          </a:p>
        </p:txBody>
      </p:sp>
      <p:sp>
        <p:nvSpPr>
          <p:cNvPr id="5" name="Footer Placeholder 4">
            <a:extLst>
              <a:ext uri="{FF2B5EF4-FFF2-40B4-BE49-F238E27FC236}">
                <a16:creationId xmlns:a16="http://schemas.microsoft.com/office/drawing/2014/main" id="{26360DC6-ABE0-5554-2F2E-756A71265CDC}"/>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A64972D1-FF18-1735-BB3B-73E055077704}"/>
              </a:ext>
            </a:extLst>
          </p:cNvPr>
          <p:cNvSpPr>
            <a:spLocks noGrp="1"/>
          </p:cNvSpPr>
          <p:nvPr>
            <p:ph type="sldNum" sz="quarter" idx="12"/>
          </p:nvPr>
        </p:nvSpPr>
        <p:spPr/>
        <p:txBody>
          <a:bodyPr/>
          <a:lstStyle/>
          <a:p>
            <a:pPr>
              <a:defRPr/>
            </a:pPr>
            <a:fld id="{BDC2143B-610F-499C-A392-DFFBE135A7B2}" type="slidenum">
              <a:rPr lang="en-US" altLang="en-US"/>
              <a:t>15</a:t>
            </a:fld>
            <a:endParaRPr lang="en-US" altLang="en-US"/>
          </a:p>
        </p:txBody>
      </p:sp>
      <p:sp>
        <p:nvSpPr>
          <p:cNvPr id="14" name="Rectangle 8">
            <a:extLst>
              <a:ext uri="{FF2B5EF4-FFF2-40B4-BE49-F238E27FC236}">
                <a16:creationId xmlns:a16="http://schemas.microsoft.com/office/drawing/2014/main" id="{91EDEF74-4647-0844-0618-699DAA81EEC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64456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978" y="-469141"/>
            <a:ext cx="11938865" cy="1284444"/>
          </a:xfrm>
        </p:spPr>
        <p:txBody>
          <a:bodyPr/>
          <a:lstStyle/>
          <a:p>
            <a:pPr algn="ctr"/>
            <a:r>
              <a:rPr lang="en-IN" altLang="en-US" sz="3800" b="1" dirty="0">
                <a:solidFill>
                  <a:srgbClr val="FF0000"/>
                </a:solidFill>
                <a:latin typeface="Times New Roman" panose="02020603050405020304" pitchFamily="18" charset="0"/>
                <a:cs typeface="Times New Roman" panose="02020603050405020304" pitchFamily="18" charset="0"/>
                <a:sym typeface="+mn-ea"/>
              </a:rPr>
              <a:t>SYSTEM ARCHITECTURE - ATTACKER MODULE</a:t>
            </a:r>
            <a:endParaRPr lang="en-GB" altLang="en-US" sz="3800" dirty="0"/>
          </a:p>
        </p:txBody>
      </p:sp>
      <p:pic>
        <p:nvPicPr>
          <p:cNvPr id="20" name="Picture Placeholder 19" descr="A diagram of a network system&#10;&#10;AI-generated content may be incorrect.">
            <a:extLst>
              <a:ext uri="{FF2B5EF4-FFF2-40B4-BE49-F238E27FC236}">
                <a16:creationId xmlns:a16="http://schemas.microsoft.com/office/drawing/2014/main" id="{22784DB2-6859-9499-CD5B-5F0139E6CBCA}"/>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13161" b="334"/>
          <a:stretch>
            <a:fillRect/>
          </a:stretch>
        </p:blipFill>
        <p:spPr>
          <a:xfrm>
            <a:off x="812799" y="1345232"/>
            <a:ext cx="10702611" cy="4734274"/>
          </a:xfrm>
        </p:spPr>
      </p:pic>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pPr>
              <a:defRPr/>
            </a:pPr>
            <a:r>
              <a:rPr lang="en-US" dirty="0"/>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3A142-E6B3-5F5E-E96A-F14DC3414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E1A36-4ACF-3928-6D6D-DB2EE56FA5A4}"/>
              </a:ext>
            </a:extLst>
          </p:cNvPr>
          <p:cNvSpPr>
            <a:spLocks noGrp="1"/>
          </p:cNvSpPr>
          <p:nvPr>
            <p:ph type="title"/>
          </p:nvPr>
        </p:nvSpPr>
        <p:spPr>
          <a:xfrm>
            <a:off x="0" y="-503695"/>
            <a:ext cx="12192000" cy="1179513"/>
          </a:xfrm>
        </p:spPr>
        <p:txBody>
          <a:bodyPr/>
          <a:lstStyle/>
          <a:p>
            <a:pPr algn="ctr"/>
            <a:r>
              <a:rPr lang="en-IN" altLang="en-US" sz="3800" b="1" dirty="0">
                <a:solidFill>
                  <a:srgbClr val="FF0000"/>
                </a:solidFill>
                <a:latin typeface="Times New Roman" panose="02020603050405020304" pitchFamily="18" charset="0"/>
                <a:cs typeface="Times New Roman" panose="02020603050405020304" pitchFamily="18" charset="0"/>
                <a:sym typeface="+mn-ea"/>
              </a:rPr>
              <a:t>SYSTEM ARCHITECTURE – DETECTION MODULE</a:t>
            </a:r>
            <a:endParaRPr lang="en-GB" altLang="en-US" sz="3800" dirty="0"/>
          </a:p>
        </p:txBody>
      </p:sp>
      <p:sp>
        <p:nvSpPr>
          <p:cNvPr id="4" name="Date Placeholder 3">
            <a:extLst>
              <a:ext uri="{FF2B5EF4-FFF2-40B4-BE49-F238E27FC236}">
                <a16:creationId xmlns:a16="http://schemas.microsoft.com/office/drawing/2014/main" id="{E64D2951-C2CA-3CEC-1CE4-3E417001C0A9}"/>
              </a:ext>
            </a:extLst>
          </p:cNvPr>
          <p:cNvSpPr>
            <a:spLocks noGrp="1"/>
          </p:cNvSpPr>
          <p:nvPr>
            <p:ph type="dt" sz="half" idx="10"/>
          </p:nvPr>
        </p:nvSpPr>
        <p:spPr/>
        <p:txBody>
          <a:bodyPr/>
          <a:lstStyle/>
          <a:p>
            <a:r>
              <a:rPr lang="en-US"/>
              <a:t>Final Review – Phase 1</a:t>
            </a:r>
            <a:endParaRPr lang="en-IN" dirty="0"/>
          </a:p>
        </p:txBody>
      </p:sp>
      <p:sp>
        <p:nvSpPr>
          <p:cNvPr id="5" name="Footer Placeholder 4">
            <a:extLst>
              <a:ext uri="{FF2B5EF4-FFF2-40B4-BE49-F238E27FC236}">
                <a16:creationId xmlns:a16="http://schemas.microsoft.com/office/drawing/2014/main" id="{5DC36131-8BE6-AAB1-7469-B5A033F3B2A6}"/>
              </a:ext>
            </a:extLst>
          </p:cNvPr>
          <p:cNvSpPr>
            <a:spLocks noGrp="1"/>
          </p:cNvSpPr>
          <p:nvPr>
            <p:ph type="ftr" sz="quarter" idx="11"/>
          </p:nvPr>
        </p:nvSpPr>
        <p:spPr/>
        <p:txBody>
          <a:bodyPr/>
          <a:lstStyle/>
          <a:p>
            <a:pPr>
              <a:defRPr/>
            </a:pPr>
            <a:r>
              <a:rPr lang="en-US" dirty="0"/>
              <a:t>Department of Computer Science and Engineering</a:t>
            </a:r>
          </a:p>
        </p:txBody>
      </p:sp>
      <p:sp>
        <p:nvSpPr>
          <p:cNvPr id="6" name="Slide Number Placeholder 5">
            <a:extLst>
              <a:ext uri="{FF2B5EF4-FFF2-40B4-BE49-F238E27FC236}">
                <a16:creationId xmlns:a16="http://schemas.microsoft.com/office/drawing/2014/main" id="{5745D9EF-CDD8-459D-B64D-3E64561E0DBC}"/>
              </a:ext>
            </a:extLst>
          </p:cNvPr>
          <p:cNvSpPr>
            <a:spLocks noGrp="1"/>
          </p:cNvSpPr>
          <p:nvPr>
            <p:ph type="sldNum" sz="quarter" idx="12"/>
          </p:nvPr>
        </p:nvSpPr>
        <p:spPr/>
        <p:txBody>
          <a:bodyPr/>
          <a:lstStyle/>
          <a:p>
            <a:pPr>
              <a:defRPr/>
            </a:pPr>
            <a:fld id="{BDC2143B-610F-499C-A392-DFFBE135A7B2}" type="slidenum">
              <a:rPr lang="en-US" altLang="en-US"/>
              <a:t>17</a:t>
            </a:fld>
            <a:endParaRPr lang="en-US" altLang="en-US"/>
          </a:p>
        </p:txBody>
      </p:sp>
      <p:pic>
        <p:nvPicPr>
          <p:cNvPr id="8" name="Picture Placeholder 7" descr="A diagram of a network&#10;&#10;AI-generated content may be incorrect.">
            <a:extLst>
              <a:ext uri="{FF2B5EF4-FFF2-40B4-BE49-F238E27FC236}">
                <a16:creationId xmlns:a16="http://schemas.microsoft.com/office/drawing/2014/main" id="{EBD7A844-D27E-BC2A-86C9-ADF2E66C8934}"/>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10986" b="-197"/>
          <a:stretch>
            <a:fillRect/>
          </a:stretch>
        </p:blipFill>
        <p:spPr>
          <a:xfrm>
            <a:off x="812800" y="1151121"/>
            <a:ext cx="10566400" cy="4976668"/>
          </a:xfrm>
        </p:spPr>
      </p:pic>
    </p:spTree>
    <p:extLst>
      <p:ext uri="{BB962C8B-B14F-4D97-AF65-F5344CB8AC3E}">
        <p14:creationId xmlns:p14="http://schemas.microsoft.com/office/powerpoint/2010/main" val="2537642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LIST OF MODULES</a:t>
            </a:r>
            <a:endParaRPr lang="en-GB" altLang="en-US" dirty="0"/>
          </a:p>
        </p:txBody>
      </p:sp>
      <p:sp>
        <p:nvSpPr>
          <p:cNvPr id="3" name="Content Placeholder 2"/>
          <p:cNvSpPr>
            <a:spLocks noGrp="1"/>
          </p:cNvSpPr>
          <p:nvPr>
            <p:ph idx="1"/>
          </p:nvPr>
        </p:nvSpPr>
        <p:spPr/>
        <p:txBody>
          <a:bodyPr/>
          <a:lstStyle/>
          <a:p>
            <a:pPr algn="just"/>
            <a:r>
              <a:rPr lang="en-US" altLang="en-GB" sz="1600" b="1" dirty="0"/>
              <a:t>Keylogger &amp; Buffer (VM-A):</a:t>
            </a:r>
            <a:r>
              <a:rPr lang="en-US" altLang="en-GB" sz="1600" dirty="0"/>
              <a:t> batch keystrokes; encode.</a:t>
            </a:r>
          </a:p>
          <a:p>
            <a:pPr algn="just"/>
            <a:endParaRPr lang="en-US" altLang="en-GB" sz="1600" dirty="0"/>
          </a:p>
          <a:p>
            <a:pPr algn="just"/>
            <a:r>
              <a:rPr lang="en-US" altLang="en-GB" sz="1600" b="1" dirty="0"/>
              <a:t>DNS Sender (VM-A):</a:t>
            </a:r>
            <a:r>
              <a:rPr lang="en-US" altLang="en-GB" sz="1600" dirty="0"/>
              <a:t> </a:t>
            </a:r>
            <a:r>
              <a:rPr lang="en-US" altLang="en-GB" sz="1600" dirty="0" err="1"/>
              <a:t>labelize</a:t>
            </a:r>
            <a:r>
              <a:rPr lang="en-US" altLang="en-GB" sz="1600" dirty="0"/>
              <a:t> &amp; emit queries.</a:t>
            </a:r>
          </a:p>
          <a:p>
            <a:pPr algn="just"/>
            <a:endParaRPr lang="en-US" altLang="en-GB" sz="1600" dirty="0"/>
          </a:p>
          <a:p>
            <a:pPr algn="just"/>
            <a:r>
              <a:rPr lang="en-US" altLang="en-GB" sz="1600" b="1" dirty="0"/>
              <a:t>ICMP Sender (VM-A):</a:t>
            </a:r>
            <a:r>
              <a:rPr lang="en-US" altLang="en-GB" sz="1600" dirty="0"/>
              <a:t> delay modulation per symbol.</a:t>
            </a:r>
          </a:p>
          <a:p>
            <a:pPr algn="just"/>
            <a:endParaRPr lang="en-US" altLang="en-GB" sz="1600" dirty="0"/>
          </a:p>
          <a:p>
            <a:pPr algn="just"/>
            <a:r>
              <a:rPr lang="en-US" altLang="en-GB" sz="1600" b="1" dirty="0"/>
              <a:t>DNS Receiver (VM-B):</a:t>
            </a:r>
            <a:r>
              <a:rPr lang="en-US" altLang="en-GB" sz="1600" dirty="0"/>
              <a:t> authoritative resolver + reconstructor.</a:t>
            </a:r>
          </a:p>
          <a:p>
            <a:pPr algn="just"/>
            <a:endParaRPr lang="en-US" altLang="en-GB" sz="1600" dirty="0"/>
          </a:p>
          <a:p>
            <a:pPr algn="just"/>
            <a:r>
              <a:rPr lang="en-US" altLang="en-GB" sz="1600" b="1" dirty="0"/>
              <a:t>ICMP Receiver (VM-B):</a:t>
            </a:r>
            <a:r>
              <a:rPr lang="en-US" altLang="en-GB" sz="1600" dirty="0"/>
              <a:t> timestamps </a:t>
            </a:r>
            <a:r>
              <a:rPr lang="en-US" altLang="en-US" sz="1600" dirty="0"/>
              <a:t>→</a:t>
            </a:r>
            <a:r>
              <a:rPr lang="en-US" altLang="en-GB" sz="1600" dirty="0"/>
              <a:t> decode.</a:t>
            </a:r>
          </a:p>
          <a:p>
            <a:pPr algn="just"/>
            <a:endParaRPr lang="en-US" altLang="en-GB" sz="1600" dirty="0"/>
          </a:p>
          <a:p>
            <a:pPr algn="just"/>
            <a:r>
              <a:rPr lang="en-US" altLang="en-GB" sz="1600" b="1" dirty="0"/>
              <a:t>Baseline Builder (VM-B):</a:t>
            </a:r>
            <a:r>
              <a:rPr lang="en-US" altLang="en-GB" sz="1600" dirty="0"/>
              <a:t> benign DNS entropy dist. + ICMP intervals.</a:t>
            </a:r>
          </a:p>
          <a:p>
            <a:pPr algn="just"/>
            <a:endParaRPr lang="en-US" altLang="en-GB" sz="1600" dirty="0"/>
          </a:p>
          <a:p>
            <a:pPr algn="just"/>
            <a:r>
              <a:rPr lang="en-US" altLang="en-GB" sz="1600" b="1" dirty="0"/>
              <a:t>Realtime Detector (VM-B):</a:t>
            </a:r>
            <a:r>
              <a:rPr lang="en-US" altLang="en-GB" sz="1600" dirty="0"/>
              <a:t> DNS entropy rules + ICMP KS windows; JSON alerts.</a:t>
            </a:r>
          </a:p>
          <a:p>
            <a:pPr algn="just"/>
            <a:endParaRPr lang="en-US" altLang="en-GB" sz="1600" dirty="0"/>
          </a:p>
        </p:txBody>
      </p:sp>
      <p:sp>
        <p:nvSpPr>
          <p:cNvPr id="4" name="Date Placeholder 3"/>
          <p:cNvSpPr>
            <a:spLocks noGrp="1"/>
          </p:cNvSpPr>
          <p:nvPr>
            <p:ph type="dt" sz="half" idx="10"/>
          </p:nvPr>
        </p:nvSpPr>
        <p:spPr/>
        <p:txBody>
          <a:bodyPr/>
          <a:lstStyle/>
          <a:p>
            <a:r>
              <a:rPr lang="en-US" dirty="0"/>
              <a:t>Final Review – Phase 1</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74D85-669B-E368-E2CF-87471BC19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CD002-730B-DC95-4701-37A80A9843DF}"/>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IMPLEMENTATION(Code) – keylogger_local.py</a:t>
            </a:r>
            <a:endParaRPr lang="en-GB" altLang="en-US" dirty="0"/>
          </a:p>
        </p:txBody>
      </p:sp>
      <p:pic>
        <p:nvPicPr>
          <p:cNvPr id="8" name="Content Placeholder 7">
            <a:extLst>
              <a:ext uri="{FF2B5EF4-FFF2-40B4-BE49-F238E27FC236}">
                <a16:creationId xmlns:a16="http://schemas.microsoft.com/office/drawing/2014/main" id="{B9059702-27EF-3221-FB2E-ED200395E53E}"/>
              </a:ext>
            </a:extLst>
          </p:cNvPr>
          <p:cNvPicPr>
            <a:picLocks noGrp="1" noChangeAspect="1"/>
          </p:cNvPicPr>
          <p:nvPr>
            <p:ph idx="1"/>
          </p:nvPr>
        </p:nvPicPr>
        <p:blipFill>
          <a:blip r:embed="rId2"/>
          <a:stretch>
            <a:fillRect/>
          </a:stretch>
        </p:blipFill>
        <p:spPr bwMode="auto">
          <a:xfrm>
            <a:off x="1703754" y="651392"/>
            <a:ext cx="8901725" cy="5481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D0885D6E-2F73-9491-4B33-F84DE8C84CF6}"/>
              </a:ext>
            </a:extLst>
          </p:cNvPr>
          <p:cNvSpPr>
            <a:spLocks noGrp="1"/>
          </p:cNvSpPr>
          <p:nvPr>
            <p:ph type="dt" sz="half" idx="10"/>
          </p:nvPr>
        </p:nvSpPr>
        <p:spPr/>
        <p:txBody>
          <a:bodyPr/>
          <a:lstStyle/>
          <a:p>
            <a:r>
              <a:rPr lang="en-US" dirty="0"/>
              <a:t>Final Review – Phase 1</a:t>
            </a:r>
            <a:endParaRPr lang="en-IN" dirty="0"/>
          </a:p>
        </p:txBody>
      </p:sp>
      <p:sp>
        <p:nvSpPr>
          <p:cNvPr id="5" name="Footer Placeholder 4">
            <a:extLst>
              <a:ext uri="{FF2B5EF4-FFF2-40B4-BE49-F238E27FC236}">
                <a16:creationId xmlns:a16="http://schemas.microsoft.com/office/drawing/2014/main" id="{6D7FF366-0140-74B7-EC07-F7179B7E539E}"/>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4070DD46-3A5A-78EE-94CF-54001BDEC4DC}"/>
              </a:ext>
            </a:extLst>
          </p:cNvPr>
          <p:cNvSpPr>
            <a:spLocks noGrp="1"/>
          </p:cNvSpPr>
          <p:nvPr>
            <p:ph type="sldNum" sz="quarter" idx="12"/>
          </p:nvPr>
        </p:nvSpPr>
        <p:spPr/>
        <p:txBody>
          <a:bodyPr/>
          <a:lstStyle/>
          <a:p>
            <a:pPr>
              <a:defRPr/>
            </a:pPr>
            <a:fld id="{BDC2143B-610F-499C-A392-DFFBE135A7B2}" type="slidenum">
              <a:rPr lang="en-US" altLang="en-US"/>
              <a:t>19</a:t>
            </a:fld>
            <a:endParaRPr lang="en-US" altLang="en-US"/>
          </a:p>
        </p:txBody>
      </p:sp>
    </p:spTree>
    <p:extLst>
      <p:ext uri="{BB962C8B-B14F-4D97-AF65-F5344CB8AC3E}">
        <p14:creationId xmlns:p14="http://schemas.microsoft.com/office/powerpoint/2010/main" val="3845805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284AD-6062-3905-C65F-2F43CC974F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EF31A-8C4D-C8AB-FB90-F4E5B87635C7}"/>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IMPLEMENTATION – keylogger_local.py</a:t>
            </a:r>
            <a:endParaRPr lang="en-GB" altLang="en-US" dirty="0"/>
          </a:p>
        </p:txBody>
      </p:sp>
      <p:sp>
        <p:nvSpPr>
          <p:cNvPr id="4" name="Date Placeholder 3">
            <a:extLst>
              <a:ext uri="{FF2B5EF4-FFF2-40B4-BE49-F238E27FC236}">
                <a16:creationId xmlns:a16="http://schemas.microsoft.com/office/drawing/2014/main" id="{1B13CAF0-A440-F062-2252-E2D126D8210B}"/>
              </a:ext>
            </a:extLst>
          </p:cNvPr>
          <p:cNvSpPr>
            <a:spLocks noGrp="1"/>
          </p:cNvSpPr>
          <p:nvPr>
            <p:ph type="dt" sz="half" idx="10"/>
          </p:nvPr>
        </p:nvSpPr>
        <p:spPr/>
        <p:txBody>
          <a:bodyPr/>
          <a:lstStyle/>
          <a:p>
            <a:r>
              <a:rPr lang="en-US" dirty="0"/>
              <a:t>Final Review – Phase 1</a:t>
            </a:r>
            <a:endParaRPr lang="en-IN" dirty="0"/>
          </a:p>
        </p:txBody>
      </p:sp>
      <p:sp>
        <p:nvSpPr>
          <p:cNvPr id="5" name="Footer Placeholder 4">
            <a:extLst>
              <a:ext uri="{FF2B5EF4-FFF2-40B4-BE49-F238E27FC236}">
                <a16:creationId xmlns:a16="http://schemas.microsoft.com/office/drawing/2014/main" id="{4DBF5E81-E056-C09E-1118-574A604FEC83}"/>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56E4371F-8325-C365-AA16-DD142A0EDD38}"/>
              </a:ext>
            </a:extLst>
          </p:cNvPr>
          <p:cNvSpPr>
            <a:spLocks noGrp="1"/>
          </p:cNvSpPr>
          <p:nvPr>
            <p:ph type="sldNum" sz="quarter" idx="12"/>
          </p:nvPr>
        </p:nvSpPr>
        <p:spPr/>
        <p:txBody>
          <a:bodyPr/>
          <a:lstStyle/>
          <a:p>
            <a:pPr>
              <a:defRPr/>
            </a:pPr>
            <a:fld id="{BDC2143B-610F-499C-A392-DFFBE135A7B2}" type="slidenum">
              <a:rPr lang="en-US" altLang="en-US"/>
              <a:t>20</a:t>
            </a:fld>
            <a:endParaRPr lang="en-US" altLang="en-US"/>
          </a:p>
        </p:txBody>
      </p:sp>
      <p:pic>
        <p:nvPicPr>
          <p:cNvPr id="9" name="Content Placeholder 8">
            <a:extLst>
              <a:ext uri="{FF2B5EF4-FFF2-40B4-BE49-F238E27FC236}">
                <a16:creationId xmlns:a16="http://schemas.microsoft.com/office/drawing/2014/main" id="{E5D2EBCA-C201-E06B-92D7-F7F5786F07EE}"/>
              </a:ext>
            </a:extLst>
          </p:cNvPr>
          <p:cNvPicPr>
            <a:picLocks noGrp="1" noChangeAspect="1"/>
          </p:cNvPicPr>
          <p:nvPr>
            <p:ph idx="1"/>
          </p:nvPr>
        </p:nvPicPr>
        <p:blipFill>
          <a:blip r:embed="rId2"/>
          <a:stretch>
            <a:fillRect/>
          </a:stretch>
        </p:blipFill>
        <p:spPr bwMode="auto">
          <a:xfrm>
            <a:off x="1570895" y="574762"/>
            <a:ext cx="9046230" cy="5570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CB7F63FD-D6F7-039A-3057-09E598D5C84C}"/>
              </a:ext>
            </a:extLst>
          </p:cNvPr>
          <p:cNvPicPr>
            <a:picLocks noChangeAspect="1"/>
          </p:cNvPicPr>
          <p:nvPr/>
        </p:nvPicPr>
        <p:blipFill>
          <a:blip r:embed="rId3"/>
          <a:stretch>
            <a:fillRect/>
          </a:stretch>
        </p:blipFill>
        <p:spPr>
          <a:xfrm>
            <a:off x="1570895" y="574762"/>
            <a:ext cx="9046230" cy="5570962"/>
          </a:xfrm>
          <a:prstGeom prst="rect">
            <a:avLst/>
          </a:prstGeom>
        </p:spPr>
      </p:pic>
    </p:spTree>
    <p:extLst>
      <p:ext uri="{BB962C8B-B14F-4D97-AF65-F5344CB8AC3E}">
        <p14:creationId xmlns:p14="http://schemas.microsoft.com/office/powerpoint/2010/main" val="55469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2DAF4-EBC5-97FA-A186-5B2D60BF8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81C0A-A5C1-C964-8971-BD6FB6DF3834}"/>
              </a:ext>
            </a:extLst>
          </p:cNvPr>
          <p:cNvSpPr>
            <a:spLocks noGrp="1"/>
          </p:cNvSpPr>
          <p:nvPr>
            <p:ph type="title"/>
          </p:nvPr>
        </p:nvSpPr>
        <p:spPr>
          <a:xfrm>
            <a:off x="766232" y="-601781"/>
            <a:ext cx="10816167" cy="1141311"/>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IMPLEMENTATION(Code)–attacker_receiver.py</a:t>
            </a:r>
            <a:endParaRPr lang="en-GB" altLang="en-US" dirty="0"/>
          </a:p>
        </p:txBody>
      </p:sp>
      <p:sp>
        <p:nvSpPr>
          <p:cNvPr id="4" name="Date Placeholder 3">
            <a:extLst>
              <a:ext uri="{FF2B5EF4-FFF2-40B4-BE49-F238E27FC236}">
                <a16:creationId xmlns:a16="http://schemas.microsoft.com/office/drawing/2014/main" id="{F7D0CDFC-0E4C-7538-561E-A85E399C954C}"/>
              </a:ext>
            </a:extLst>
          </p:cNvPr>
          <p:cNvSpPr>
            <a:spLocks noGrp="1"/>
          </p:cNvSpPr>
          <p:nvPr>
            <p:ph type="dt" sz="half" idx="10"/>
          </p:nvPr>
        </p:nvSpPr>
        <p:spPr/>
        <p:txBody>
          <a:bodyPr/>
          <a:lstStyle/>
          <a:p>
            <a:r>
              <a:rPr lang="en-US" dirty="0"/>
              <a:t>Final Review – Phase 1</a:t>
            </a:r>
            <a:endParaRPr lang="en-IN" dirty="0"/>
          </a:p>
        </p:txBody>
      </p:sp>
      <p:sp>
        <p:nvSpPr>
          <p:cNvPr id="5" name="Footer Placeholder 4">
            <a:extLst>
              <a:ext uri="{FF2B5EF4-FFF2-40B4-BE49-F238E27FC236}">
                <a16:creationId xmlns:a16="http://schemas.microsoft.com/office/drawing/2014/main" id="{8A331F7E-B478-E88F-15EE-199E8FA01FEC}"/>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AEE6383E-0BEF-9BD6-438A-D1A1085A175F}"/>
              </a:ext>
            </a:extLst>
          </p:cNvPr>
          <p:cNvSpPr>
            <a:spLocks noGrp="1"/>
          </p:cNvSpPr>
          <p:nvPr>
            <p:ph type="sldNum" sz="quarter" idx="12"/>
          </p:nvPr>
        </p:nvSpPr>
        <p:spPr/>
        <p:txBody>
          <a:bodyPr/>
          <a:lstStyle/>
          <a:p>
            <a:pPr>
              <a:defRPr/>
            </a:pPr>
            <a:fld id="{BDC2143B-610F-499C-A392-DFFBE135A7B2}" type="slidenum">
              <a:rPr lang="en-US" altLang="en-US"/>
              <a:t>21</a:t>
            </a:fld>
            <a:endParaRPr lang="en-US" altLang="en-US"/>
          </a:p>
        </p:txBody>
      </p:sp>
      <p:pic>
        <p:nvPicPr>
          <p:cNvPr id="9" name="Content Placeholder 8">
            <a:extLst>
              <a:ext uri="{FF2B5EF4-FFF2-40B4-BE49-F238E27FC236}">
                <a16:creationId xmlns:a16="http://schemas.microsoft.com/office/drawing/2014/main" id="{257F306A-25D0-7078-0C1C-417ECDB23A65}"/>
              </a:ext>
            </a:extLst>
          </p:cNvPr>
          <p:cNvPicPr>
            <a:picLocks noGrp="1" noChangeAspect="1"/>
          </p:cNvPicPr>
          <p:nvPr>
            <p:ph idx="1"/>
          </p:nvPr>
        </p:nvPicPr>
        <p:blipFill>
          <a:blip r:embed="rId2"/>
          <a:stretch>
            <a:fillRect/>
          </a:stretch>
        </p:blipFill>
        <p:spPr bwMode="auto">
          <a:xfrm>
            <a:off x="1563079" y="516218"/>
            <a:ext cx="9144003" cy="5631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1134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81005-573F-3377-2D5D-7F1D0AF6F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B5CE6-4931-21E1-FFC0-A4B50CAE77FA}"/>
              </a:ext>
            </a:extLst>
          </p:cNvPr>
          <p:cNvSpPr>
            <a:spLocks noGrp="1"/>
          </p:cNvSpPr>
          <p:nvPr>
            <p:ph type="title"/>
          </p:nvPr>
        </p:nvSpPr>
        <p:spPr>
          <a:xfrm>
            <a:off x="766233" y="-601781"/>
            <a:ext cx="10668000" cy="1216025"/>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sym typeface="+mn-ea"/>
              </a:rPr>
              <a:t>IMPLEMENTATION – attacker_receiver.py</a:t>
            </a:r>
            <a:endParaRPr lang="en-GB" altLang="en-US" dirty="0"/>
          </a:p>
        </p:txBody>
      </p:sp>
      <p:sp>
        <p:nvSpPr>
          <p:cNvPr id="4" name="Date Placeholder 3">
            <a:extLst>
              <a:ext uri="{FF2B5EF4-FFF2-40B4-BE49-F238E27FC236}">
                <a16:creationId xmlns:a16="http://schemas.microsoft.com/office/drawing/2014/main" id="{670D9F50-84E7-16D9-FBAE-691E3C843FB9}"/>
              </a:ext>
            </a:extLst>
          </p:cNvPr>
          <p:cNvSpPr>
            <a:spLocks noGrp="1"/>
          </p:cNvSpPr>
          <p:nvPr>
            <p:ph type="dt" sz="half" idx="10"/>
          </p:nvPr>
        </p:nvSpPr>
        <p:spPr/>
        <p:txBody>
          <a:bodyPr/>
          <a:lstStyle/>
          <a:p>
            <a:r>
              <a:rPr lang="en-US" dirty="0"/>
              <a:t>Final Review – Phase 1</a:t>
            </a:r>
            <a:endParaRPr lang="en-IN" dirty="0"/>
          </a:p>
        </p:txBody>
      </p:sp>
      <p:sp>
        <p:nvSpPr>
          <p:cNvPr id="5" name="Footer Placeholder 4">
            <a:extLst>
              <a:ext uri="{FF2B5EF4-FFF2-40B4-BE49-F238E27FC236}">
                <a16:creationId xmlns:a16="http://schemas.microsoft.com/office/drawing/2014/main" id="{A7F46A4B-3AF0-D8E4-C3BC-94A9D37C9A98}"/>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9FCEEC69-E222-166C-12A5-621B309E4550}"/>
              </a:ext>
            </a:extLst>
          </p:cNvPr>
          <p:cNvSpPr>
            <a:spLocks noGrp="1"/>
          </p:cNvSpPr>
          <p:nvPr>
            <p:ph type="sldNum" sz="quarter" idx="12"/>
          </p:nvPr>
        </p:nvSpPr>
        <p:spPr/>
        <p:txBody>
          <a:bodyPr/>
          <a:lstStyle/>
          <a:p>
            <a:pPr>
              <a:defRPr/>
            </a:pPr>
            <a:fld id="{BDC2143B-610F-499C-A392-DFFBE135A7B2}" type="slidenum">
              <a:rPr lang="en-US" altLang="en-US"/>
              <a:t>22</a:t>
            </a:fld>
            <a:endParaRPr lang="en-US" altLang="en-US"/>
          </a:p>
        </p:txBody>
      </p:sp>
      <p:pic>
        <p:nvPicPr>
          <p:cNvPr id="10" name="Content Placeholder 9">
            <a:extLst>
              <a:ext uri="{FF2B5EF4-FFF2-40B4-BE49-F238E27FC236}">
                <a16:creationId xmlns:a16="http://schemas.microsoft.com/office/drawing/2014/main" id="{C688BAE7-DF6C-2456-C7CB-A03769F620F8}"/>
              </a:ext>
            </a:extLst>
          </p:cNvPr>
          <p:cNvPicPr>
            <a:picLocks noGrp="1" noChangeAspect="1"/>
          </p:cNvPicPr>
          <p:nvPr>
            <p:ph idx="1"/>
          </p:nvPr>
        </p:nvPicPr>
        <p:blipFill>
          <a:blip r:embed="rId2"/>
          <a:stretch>
            <a:fillRect/>
          </a:stretch>
        </p:blipFill>
        <p:spPr>
          <a:xfrm>
            <a:off x="1578384" y="602653"/>
            <a:ext cx="9011464" cy="5549551"/>
          </a:xfrm>
          <a:prstGeom prst="rect">
            <a:avLst/>
          </a:prstGeom>
        </p:spPr>
      </p:pic>
    </p:spTree>
    <p:extLst>
      <p:ext uri="{BB962C8B-B14F-4D97-AF65-F5344CB8AC3E}">
        <p14:creationId xmlns:p14="http://schemas.microsoft.com/office/powerpoint/2010/main" val="3413382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REFERENCE</a:t>
            </a:r>
            <a:endParaRPr lang="en-GB" altLang="en-US" dirty="0"/>
          </a:p>
        </p:txBody>
      </p:sp>
      <p:sp>
        <p:nvSpPr>
          <p:cNvPr id="3" name="Content Placeholder 2"/>
          <p:cNvSpPr>
            <a:spLocks noGrp="1"/>
          </p:cNvSpPr>
          <p:nvPr>
            <p:ph idx="1"/>
          </p:nvPr>
        </p:nvSpPr>
        <p:spPr/>
        <p:txBody>
          <a:bodyPr/>
          <a:lstStyle/>
          <a:p>
            <a:pPr algn="just">
              <a:lnSpc>
                <a:spcPct val="150000"/>
              </a:lnSpc>
            </a:pPr>
            <a:r>
              <a:rPr lang="en-US" altLang="en-GB" sz="1400" dirty="0"/>
              <a:t>[1] "DYST (Did You See That?): An Amplified Covert Channel That Points To Previously Seen Data," IEEE Access, vol. N/A, pp. N/A, Jan. 2025, </a:t>
            </a:r>
            <a:r>
              <a:rPr lang="en-US" altLang="en-GB" sz="1400" dirty="0" err="1"/>
              <a:t>doi</a:t>
            </a:r>
            <a:r>
              <a:rPr lang="en-US" altLang="en-GB" sz="1400" dirty="0"/>
              <a:t>: 10.1109/ACCESS.2025.10551462.</a:t>
            </a:r>
          </a:p>
          <a:p>
            <a:pPr algn="just">
              <a:lnSpc>
                <a:spcPct val="150000"/>
              </a:lnSpc>
            </a:pPr>
            <a:r>
              <a:rPr lang="en-US" altLang="en-GB" sz="1400" dirty="0"/>
              <a:t>[2] "Echoes From the Void: Detecting DNS Tunneling With Blackhole Features in Encrypted Scenarios With High Accuracy," IEEE Access, vol. N/A, pp. N/A, Aug. 2025, </a:t>
            </a:r>
            <a:r>
              <a:rPr lang="en-US" altLang="en-GB" sz="1400" dirty="0" err="1"/>
              <a:t>doi</a:t>
            </a:r>
            <a:r>
              <a:rPr lang="en-US" altLang="en-GB" sz="1400" dirty="0"/>
              <a:t>: 10.1109/ACCESS.2025.11107436.</a:t>
            </a:r>
          </a:p>
          <a:p>
            <a:pPr algn="just">
              <a:lnSpc>
                <a:spcPct val="150000"/>
              </a:lnSpc>
            </a:pPr>
            <a:r>
              <a:rPr lang="en-US" altLang="en-GB" sz="1400" dirty="0"/>
              <a:t>[3] "Comprehensive Review of Intrusion Detection Techniques: ML and DL in Different Networks," IEEE Access, vol. N/A, pp. N/A, Jun. 2025, </a:t>
            </a:r>
            <a:r>
              <a:rPr lang="en-US" altLang="en-GB" sz="1400" dirty="0" err="1"/>
              <a:t>doi</a:t>
            </a:r>
            <a:r>
              <a:rPr lang="en-US" altLang="en-GB" sz="1400" dirty="0"/>
              <a:t>: 10.1109/ACCESS.2025.11036755.</a:t>
            </a:r>
          </a:p>
          <a:p>
            <a:pPr algn="just">
              <a:lnSpc>
                <a:spcPct val="150000"/>
              </a:lnSpc>
            </a:pPr>
            <a:r>
              <a:rPr lang="en-US" altLang="en-GB" sz="1400" dirty="0"/>
              <a:t>[4] "A Comprehensive Survey of Explainable Artificial Intelligence (XAI) in Network Intrusion Detection," IEEE Access, vol. N/A, pp. N/A, Jul. 2025, </a:t>
            </a:r>
            <a:r>
              <a:rPr lang="en-US" altLang="en-GB" sz="1400" dirty="0" err="1"/>
              <a:t>doi</a:t>
            </a:r>
            <a:r>
              <a:rPr lang="en-US" altLang="en-GB" sz="1400" dirty="0"/>
              <a:t>: 10.1109/ACCESS.2025.11075748.</a:t>
            </a:r>
          </a:p>
          <a:p>
            <a:pPr algn="just">
              <a:lnSpc>
                <a:spcPct val="150000"/>
              </a:lnSpc>
            </a:pPr>
            <a:r>
              <a:rPr lang="en-US" altLang="en-GB" sz="1400" dirty="0"/>
              <a:t>[5] "VPN Traffic Analysis: A Survey on Detection and Application Identification," IEEE Access, vol. N/A, pp. N/A, Jul. 2025, </a:t>
            </a:r>
            <a:r>
              <a:rPr lang="en-US" altLang="en-GB" sz="1400" dirty="0" err="1"/>
              <a:t>doi</a:t>
            </a:r>
            <a:r>
              <a:rPr lang="en-US" altLang="en-GB" sz="1400" dirty="0"/>
              <a:t>: 10.1109/ACCESS.2025.11091298.</a:t>
            </a:r>
          </a:p>
          <a:p>
            <a:pPr algn="just">
              <a:lnSpc>
                <a:spcPct val="150000"/>
              </a:lnSpc>
            </a:pPr>
            <a:r>
              <a:rPr lang="en-US" altLang="en-GB" sz="1400" dirty="0"/>
              <a:t>[6] "Threat Detection Framework Based on Industrial Internet of Things Logs," IEEE Access, vol. N/A, pp. N/A, Dec. 2024, </a:t>
            </a:r>
            <a:r>
              <a:rPr lang="en-US" altLang="en-GB" sz="1400" dirty="0" err="1"/>
              <a:t>doi</a:t>
            </a:r>
            <a:r>
              <a:rPr lang="en-US" altLang="en-GB" sz="1400" dirty="0"/>
              <a:t>: 10.1109/ACCESS.2024.10786974.</a:t>
            </a:r>
          </a:p>
          <a:p>
            <a:pPr algn="just"/>
            <a:endParaRPr lang="en-US" altLang="en-GB" sz="1400" dirty="0"/>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23</a:t>
            </a:fld>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7899F-D1BA-53F4-946D-5D2561A33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89BD7-9870-FBFF-09F0-4CF4CCCE20D4}"/>
              </a:ext>
            </a:extLst>
          </p:cNvPr>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REFERENCE</a:t>
            </a:r>
            <a:endParaRPr lang="en-GB" altLang="en-US"/>
          </a:p>
        </p:txBody>
      </p:sp>
      <p:sp>
        <p:nvSpPr>
          <p:cNvPr id="3" name="Content Placeholder 2">
            <a:extLst>
              <a:ext uri="{FF2B5EF4-FFF2-40B4-BE49-F238E27FC236}">
                <a16:creationId xmlns:a16="http://schemas.microsoft.com/office/drawing/2014/main" id="{78BB7C07-57EC-BB6C-6297-857E532B6BFF}"/>
              </a:ext>
            </a:extLst>
          </p:cNvPr>
          <p:cNvSpPr>
            <a:spLocks noGrp="1"/>
          </p:cNvSpPr>
          <p:nvPr>
            <p:ph idx="1"/>
          </p:nvPr>
        </p:nvSpPr>
        <p:spPr/>
        <p:txBody>
          <a:bodyPr/>
          <a:lstStyle/>
          <a:p>
            <a:pPr algn="just">
              <a:lnSpc>
                <a:spcPct val="150000"/>
              </a:lnSpc>
            </a:pPr>
            <a:r>
              <a:rPr lang="en-US" altLang="en-GB" sz="1400" dirty="0"/>
              <a:t>[7] "Anomaly Detection Model in Network Security Situational Awareness Based on Machine Learning: Limitation, Techniques, and Future Trends," IEEE Access, vol. N/A, pp. N/A, Jul. 2025, </a:t>
            </a:r>
            <a:r>
              <a:rPr lang="en-US" altLang="en-GB" sz="1400" dirty="0" err="1"/>
              <a:t>doi</a:t>
            </a:r>
            <a:r>
              <a:rPr lang="en-US" altLang="en-GB" sz="1400" dirty="0"/>
              <a:t>: 10.1109/ACCESS.2025.11082123.</a:t>
            </a:r>
          </a:p>
          <a:p>
            <a:pPr algn="just">
              <a:lnSpc>
                <a:spcPct val="150000"/>
              </a:lnSpc>
            </a:pPr>
            <a:r>
              <a:rPr lang="en-US" altLang="en-GB" sz="1400" dirty="0"/>
              <a:t>[8] "Securing Networks Against Adversarial Domain Name System Tunneling Attacks Using Hybrid Neural Networks," IEEE Access, vol. N/A, pp. N/A, Mar. 2025, </a:t>
            </a:r>
            <a:r>
              <a:rPr lang="en-US" altLang="en-GB" sz="1400" dirty="0" err="1"/>
              <a:t>doi</a:t>
            </a:r>
            <a:r>
              <a:rPr lang="en-US" altLang="en-GB" sz="1400" dirty="0"/>
              <a:t>: 10.1109/ACCESS.2025.10924244.</a:t>
            </a:r>
          </a:p>
          <a:p>
            <a:pPr algn="just">
              <a:lnSpc>
                <a:spcPct val="150000"/>
              </a:lnSpc>
            </a:pPr>
            <a:r>
              <a:rPr lang="en-US" altLang="en-GB" sz="1400" dirty="0"/>
              <a:t>[9] "RPZ-Based Suspicious Direct Outbound DNS Traffic Detection Mechanism With Adaptive Policy Updates," IEEE Access, vol. N/A, pp. N/A, Feb. 2025, </a:t>
            </a:r>
            <a:r>
              <a:rPr lang="en-US" altLang="en-GB" sz="1400" dirty="0" err="1"/>
              <a:t>doi</a:t>
            </a:r>
            <a:r>
              <a:rPr lang="en-US" altLang="en-GB" sz="1400" dirty="0"/>
              <a:t>: 10.1109/ACCESS.2025.10887223.</a:t>
            </a:r>
          </a:p>
          <a:p>
            <a:pPr algn="just">
              <a:lnSpc>
                <a:spcPct val="150000"/>
              </a:lnSpc>
            </a:pPr>
            <a:r>
              <a:rPr lang="en-US" altLang="en-GB" sz="1400" dirty="0">
                <a:sym typeface="+mn-ea"/>
              </a:rPr>
              <a:t>[10] "Exploiting Temporal Variability in TCP Timestamps for Covert Channel Design," IEEE Access, vol. N/A, pp. N/A, Jul. 2025, </a:t>
            </a:r>
            <a:r>
              <a:rPr lang="en-US" altLang="en-GB" sz="1400" dirty="0" err="1">
                <a:sym typeface="+mn-ea"/>
              </a:rPr>
              <a:t>doi</a:t>
            </a:r>
            <a:r>
              <a:rPr lang="en-US" altLang="en-GB" sz="1400" dirty="0">
                <a:sym typeface="+mn-ea"/>
              </a:rPr>
              <a:t>: 10.1109/ACCESS.2025.11062641.</a:t>
            </a:r>
            <a:endParaRPr lang="en-US" altLang="en-GB" sz="1400" dirty="0"/>
          </a:p>
          <a:p>
            <a:pPr algn="just">
              <a:lnSpc>
                <a:spcPct val="150000"/>
              </a:lnSpc>
            </a:pPr>
            <a:r>
              <a:rPr lang="en-US" altLang="en-GB" sz="1400" dirty="0">
                <a:sym typeface="+mn-ea"/>
              </a:rPr>
              <a:t>[11] "Reinforcement-Learning-Based Intrusion Detection in Communication Networks: A Review," IEEE Access, vol. N/A, pp. N/A, Aug. 2025, </a:t>
            </a:r>
            <a:r>
              <a:rPr lang="en-US" altLang="en-GB" sz="1400" dirty="0" err="1">
                <a:sym typeface="+mn-ea"/>
              </a:rPr>
              <a:t>doi</a:t>
            </a:r>
            <a:r>
              <a:rPr lang="en-US" altLang="en-GB" sz="1400" dirty="0">
                <a:sym typeface="+mn-ea"/>
              </a:rPr>
              <a:t>: 10.1109/ACCESS.2025.10729241.</a:t>
            </a:r>
          </a:p>
          <a:p>
            <a:pPr algn="just">
              <a:lnSpc>
                <a:spcPct val="150000"/>
              </a:lnSpc>
            </a:pPr>
            <a:r>
              <a:rPr lang="en-US" altLang="en-GB" sz="1400" dirty="0">
                <a:sym typeface="+mn-ea"/>
              </a:rPr>
              <a:t>[12] "UAV-NIDD: A Dynamic Dataset for Cybersecurity and Intrusion Detection in UAV Networks," IEEE Access, vol. N/A, pp. N/A, Jun. 2025, </a:t>
            </a:r>
            <a:r>
              <a:rPr lang="en-US" altLang="en-GB" sz="1400" dirty="0" err="1">
                <a:sym typeface="+mn-ea"/>
              </a:rPr>
              <a:t>doi</a:t>
            </a:r>
            <a:r>
              <a:rPr lang="en-US" altLang="en-GB" sz="1400" dirty="0">
                <a:sym typeface="+mn-ea"/>
              </a:rPr>
              <a:t>: 10.1109/ACCESS.2025.10937270.</a:t>
            </a:r>
            <a:endParaRPr lang="en-US" altLang="en-GB" sz="1400" dirty="0"/>
          </a:p>
          <a:p>
            <a:pPr algn="just">
              <a:lnSpc>
                <a:spcPct val="150000"/>
              </a:lnSpc>
            </a:pPr>
            <a:endParaRPr lang="en-US" altLang="en-GB" sz="1400" dirty="0"/>
          </a:p>
          <a:p>
            <a:pPr algn="just">
              <a:lnSpc>
                <a:spcPct val="150000"/>
              </a:lnSpc>
            </a:pPr>
            <a:endParaRPr lang="en-US" altLang="en-GB" sz="1400" dirty="0"/>
          </a:p>
          <a:p>
            <a:pPr algn="just"/>
            <a:endParaRPr lang="en-US" altLang="en-GB" sz="1400" dirty="0"/>
          </a:p>
        </p:txBody>
      </p:sp>
      <p:sp>
        <p:nvSpPr>
          <p:cNvPr id="4" name="Date Placeholder 3">
            <a:extLst>
              <a:ext uri="{FF2B5EF4-FFF2-40B4-BE49-F238E27FC236}">
                <a16:creationId xmlns:a16="http://schemas.microsoft.com/office/drawing/2014/main" id="{A62CC56B-B19E-28D3-DA06-8FB949F9970F}"/>
              </a:ext>
            </a:extLst>
          </p:cNvPr>
          <p:cNvSpPr>
            <a:spLocks noGrp="1"/>
          </p:cNvSpPr>
          <p:nvPr>
            <p:ph type="dt" sz="half" idx="10"/>
          </p:nvPr>
        </p:nvSpPr>
        <p:spPr/>
        <p:txBody>
          <a:bodyPr/>
          <a:lstStyle/>
          <a:p>
            <a:r>
              <a:rPr lang="en-US"/>
              <a:t>Final Review – Phase 1</a:t>
            </a:r>
            <a:endParaRPr lang="en-IN" dirty="0"/>
          </a:p>
        </p:txBody>
      </p:sp>
      <p:sp>
        <p:nvSpPr>
          <p:cNvPr id="5" name="Footer Placeholder 4">
            <a:extLst>
              <a:ext uri="{FF2B5EF4-FFF2-40B4-BE49-F238E27FC236}">
                <a16:creationId xmlns:a16="http://schemas.microsoft.com/office/drawing/2014/main" id="{33C8F756-743D-1510-6430-0912E9F76AB5}"/>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A641F96A-098F-BB5B-18C8-2F84EE6AFA3E}"/>
              </a:ext>
            </a:extLst>
          </p:cNvPr>
          <p:cNvSpPr>
            <a:spLocks noGrp="1"/>
          </p:cNvSpPr>
          <p:nvPr>
            <p:ph type="sldNum" sz="quarter" idx="12"/>
          </p:nvPr>
        </p:nvSpPr>
        <p:spPr/>
        <p:txBody>
          <a:bodyPr/>
          <a:lstStyle/>
          <a:p>
            <a:pPr>
              <a:defRPr/>
            </a:pPr>
            <a:fld id="{BDC2143B-610F-499C-A392-DFFBE135A7B2}" type="slidenum">
              <a:rPr lang="en-US" altLang="en-US"/>
              <a:t>24</a:t>
            </a:fld>
            <a:endParaRPr lang="en-US" altLang="en-US"/>
          </a:p>
        </p:txBody>
      </p:sp>
    </p:spTree>
    <p:extLst>
      <p:ext uri="{BB962C8B-B14F-4D97-AF65-F5344CB8AC3E}">
        <p14:creationId xmlns:p14="http://schemas.microsoft.com/office/powerpoint/2010/main" val="1499789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REFERENCE</a:t>
            </a:r>
            <a:endParaRPr lang="en-GB" altLang="en-US"/>
          </a:p>
        </p:txBody>
      </p:sp>
      <p:sp>
        <p:nvSpPr>
          <p:cNvPr id="3" name="Content Placeholder 2"/>
          <p:cNvSpPr>
            <a:spLocks noGrp="1"/>
          </p:cNvSpPr>
          <p:nvPr>
            <p:ph idx="1"/>
          </p:nvPr>
        </p:nvSpPr>
        <p:spPr/>
        <p:txBody>
          <a:bodyPr/>
          <a:lstStyle/>
          <a:p>
            <a:pPr algn="just">
              <a:lnSpc>
                <a:spcPct val="150000"/>
              </a:lnSpc>
            </a:pPr>
            <a:r>
              <a:rPr lang="en-US" altLang="en-GB" sz="1400" dirty="0">
                <a:sym typeface="+mn-ea"/>
              </a:rPr>
              <a:t>[13] "A Survey on Data Plane Security in Software-Defined Networks: Toward Adaptive Security of Data Planes," IEEE Access, vol. N/A, pp. N/A, Jun. 2025, </a:t>
            </a:r>
            <a:r>
              <a:rPr lang="en-US" altLang="en-GB" sz="1400" dirty="0" err="1">
                <a:sym typeface="+mn-ea"/>
              </a:rPr>
              <a:t>doi</a:t>
            </a:r>
            <a:r>
              <a:rPr lang="en-US" altLang="en-GB" sz="1400" dirty="0">
                <a:sym typeface="+mn-ea"/>
              </a:rPr>
              <a:t>: 10.1109/ACCESS.2025.11020661.</a:t>
            </a:r>
            <a:endParaRPr lang="en-US" altLang="en-GB" sz="1400" dirty="0"/>
          </a:p>
          <a:p>
            <a:pPr algn="just">
              <a:lnSpc>
                <a:spcPct val="150000"/>
              </a:lnSpc>
            </a:pPr>
            <a:r>
              <a:rPr lang="en-US" altLang="en-GB" sz="1400" dirty="0">
                <a:sym typeface="+mn-ea"/>
              </a:rPr>
              <a:t>[14] "AI Enabled Threat Detection: Leveraging Artificial Intelligence for Advanced Security and Cyber Threat Mitigation," IEEE Access, vol. N/A, pp. N/A, Nov. 2024, </a:t>
            </a:r>
            <a:r>
              <a:rPr lang="en-US" altLang="en-GB" sz="1400" dirty="0" err="1">
                <a:sym typeface="+mn-ea"/>
              </a:rPr>
              <a:t>doi</a:t>
            </a:r>
            <a:r>
              <a:rPr lang="en-US" altLang="en-GB" sz="1400" dirty="0">
                <a:sym typeface="+mn-ea"/>
              </a:rPr>
              <a:t>: 10.1109/ACCESS.2024.10747338.</a:t>
            </a:r>
            <a:endParaRPr lang="en-US" altLang="en-GB" sz="1400" dirty="0"/>
          </a:p>
          <a:p>
            <a:pPr algn="just">
              <a:lnSpc>
                <a:spcPct val="150000"/>
              </a:lnSpc>
            </a:pPr>
            <a:r>
              <a:rPr lang="en-US" altLang="en-GB" sz="1400" dirty="0">
                <a:sym typeface="+mn-ea"/>
              </a:rPr>
              <a:t>[15] "Cyber Attack Prediction: From Traditional Machine Learning to Generative Artificial Intelligence," IEEE Access, vol. N/A, pp. N/A, 2025, </a:t>
            </a:r>
            <a:r>
              <a:rPr lang="en-US" altLang="en-GB" sz="1400" dirty="0" err="1">
                <a:sym typeface="+mn-ea"/>
              </a:rPr>
              <a:t>doi</a:t>
            </a:r>
            <a:r>
              <a:rPr lang="en-US" altLang="en-GB" sz="1400" dirty="0">
                <a:sym typeface="+mn-ea"/>
              </a:rPr>
              <a:t>: 10.1109/ACCESS.2025.10909100.</a:t>
            </a:r>
            <a:endParaRPr lang="en-US" altLang="en-GB" sz="1400" dirty="0"/>
          </a:p>
          <a:p>
            <a:pPr algn="just">
              <a:lnSpc>
                <a:spcPct val="150000"/>
              </a:lnSpc>
            </a:pPr>
            <a:r>
              <a:rPr lang="en-US" altLang="en-GB" sz="1400" dirty="0">
                <a:sym typeface="+mn-ea"/>
              </a:rPr>
              <a:t>[16] "MU-IoT: A New IoT Intrusion Dataset for Network and Application Layer Attacks Analysis," IEEE Access, vol. N/A, pp. N/A, Nov. 2024, </a:t>
            </a:r>
            <a:r>
              <a:rPr lang="en-US" altLang="en-GB" sz="1400" dirty="0" err="1">
                <a:sym typeface="+mn-ea"/>
              </a:rPr>
              <a:t>doi</a:t>
            </a:r>
            <a:r>
              <a:rPr lang="en-US" altLang="en-GB" sz="1400" dirty="0">
                <a:sym typeface="+mn-ea"/>
              </a:rPr>
              <a:t>: 10.1109/ACCESS.2024.10747334.</a:t>
            </a:r>
            <a:endParaRPr lang="en-US" altLang="en-GB" sz="1400" dirty="0"/>
          </a:p>
          <a:p>
            <a:pPr algn="just">
              <a:lnSpc>
                <a:spcPct val="150000"/>
              </a:lnSpc>
            </a:pPr>
            <a:r>
              <a:rPr lang="en-US" altLang="en-GB" sz="1400" dirty="0">
                <a:sym typeface="+mn-ea"/>
              </a:rPr>
              <a:t>[17] "Majority Voting Ensemble Classifier for Detecting Keylogging Attack in IoT," IEEE Access, vol. N/A, pp. N/A, Feb. 2024, </a:t>
            </a:r>
            <a:r>
              <a:rPr lang="en-US" altLang="en-GB" sz="1400" dirty="0" err="1">
                <a:sym typeface="+mn-ea"/>
              </a:rPr>
              <a:t>doi</a:t>
            </a:r>
            <a:r>
              <a:rPr lang="en-US" altLang="en-GB" sz="1400" dirty="0">
                <a:sym typeface="+mn-ea"/>
              </a:rPr>
              <a:t>: 10.1109/ACCESS.2024.10419360.</a:t>
            </a:r>
            <a:endParaRPr lang="en-US" altLang="en-GB" sz="1400" dirty="0"/>
          </a:p>
          <a:p>
            <a:pPr algn="just">
              <a:lnSpc>
                <a:spcPct val="150000"/>
              </a:lnSpc>
            </a:pPr>
            <a:r>
              <a:rPr lang="en-US" altLang="en-GB" sz="1400" dirty="0">
                <a:sym typeface="+mn-ea"/>
              </a:rPr>
              <a:t>[18] "A Dual-Strategy Framework for Cyber Threat Detection in Imbalanced, High-Dimensional Data Across Heterogeneous Networks," IEEE Access, vol. N/A, pp. N/A, Jul. 2025, </a:t>
            </a:r>
            <a:r>
              <a:rPr lang="en-US" altLang="en-GB" sz="1400" dirty="0" err="1">
                <a:sym typeface="+mn-ea"/>
              </a:rPr>
              <a:t>doi</a:t>
            </a:r>
            <a:r>
              <a:rPr lang="en-US" altLang="en-GB" sz="1400" dirty="0">
                <a:sym typeface="+mn-ea"/>
              </a:rPr>
              <a:t>: 10.1109/ACCESS.2025.11048903.</a:t>
            </a:r>
            <a:endParaRPr lang="en-US" altLang="en-GB" sz="1400" dirty="0"/>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PAPER PUBLICATION STATUS</a:t>
            </a:r>
            <a:endParaRPr lang="en-GB" altLang="en-US"/>
          </a:p>
        </p:txBody>
      </p:sp>
      <p:sp>
        <p:nvSpPr>
          <p:cNvPr id="3" name="Content Placeholder 2"/>
          <p:cNvSpPr>
            <a:spLocks noGrp="1"/>
          </p:cNvSpPr>
          <p:nvPr>
            <p:ph idx="1"/>
          </p:nvPr>
        </p:nvSpPr>
        <p:spPr/>
        <p:txBody>
          <a:bodyPr/>
          <a:lstStyle/>
          <a:p>
            <a:pPr algn="just">
              <a:lnSpc>
                <a:spcPct val="150000"/>
              </a:lnSpc>
            </a:pPr>
            <a:r>
              <a:rPr lang="en-US" sz="1600" b="1" dirty="0">
                <a:latin typeface="Times New Roman" panose="02020603050405020304" pitchFamily="18" charset="0"/>
                <a:cs typeface="Times New Roman" panose="02020603050405020304" pitchFamily="18" charset="0"/>
                <a:sym typeface="+mn-ea"/>
              </a:rPr>
              <a:t>STATUS: </a:t>
            </a:r>
            <a:r>
              <a:rPr lang="en-US" sz="1600" dirty="0">
                <a:latin typeface="Times New Roman" panose="02020603050405020304" pitchFamily="18" charset="0"/>
                <a:cs typeface="Times New Roman" panose="02020603050405020304" pitchFamily="18" charset="0"/>
                <a:sym typeface="+mn-ea"/>
              </a:rPr>
              <a:t>Paper submitted for publication</a:t>
            </a:r>
            <a:r>
              <a:rPr lang="en-US" sz="1600" b="1" dirty="0">
                <a:latin typeface="Times New Roman" panose="02020603050405020304" pitchFamily="18" charset="0"/>
                <a:cs typeface="Times New Roman" panose="02020603050405020304" pitchFamily="18" charset="0"/>
                <a:sym typeface="+mn-ea"/>
              </a:rPr>
              <a:t> </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sym typeface="+mn-ea"/>
              </a:rPr>
              <a:t>NAME OF CONFERENCE: </a:t>
            </a:r>
            <a:r>
              <a:rPr lang="en-IN" sz="1600" dirty="0">
                <a:latin typeface="Times New Roman" panose="02020603050405020304" pitchFamily="18" charset="0"/>
                <a:cs typeface="Times New Roman" panose="02020603050405020304" pitchFamily="18" charset="0"/>
              </a:rPr>
              <a:t>INTERNATIONAL CONFERENCE ON ELECTRICAL, COMMUNICATION AND COMPUTING TECHNOLOGIES</a:t>
            </a:r>
            <a:endParaRPr lang="en-US" altLang="en-GB" sz="1600" b="1" dirty="0">
              <a:latin typeface="Times New Roman" panose="02020603050405020304" pitchFamily="18" charset="0"/>
              <a:cs typeface="Times New Roman" panose="02020603050405020304" pitchFamily="18" charset="0"/>
              <a:sym typeface="+mn-ea"/>
            </a:endParaRPr>
          </a:p>
          <a:p>
            <a:pPr algn="just">
              <a:lnSpc>
                <a:spcPct val="150000"/>
              </a:lnSpc>
            </a:pPr>
            <a:r>
              <a:rPr lang="en-US" sz="1600" b="1" dirty="0">
                <a:latin typeface="Times New Roman" panose="02020603050405020304" pitchFamily="18" charset="0"/>
                <a:cs typeface="Times New Roman" panose="02020603050405020304" pitchFamily="18" charset="0"/>
                <a:sym typeface="+mn-ea"/>
              </a:rPr>
              <a:t>TITLE OF THE PAPER: </a:t>
            </a:r>
            <a:r>
              <a:rPr lang="en-US" altLang="en-GB" sz="1600" dirty="0">
                <a:latin typeface="Times New Roman" panose="02020603050405020304" pitchFamily="18" charset="0"/>
                <a:cs typeface="Times New Roman" panose="02020603050405020304" pitchFamily="18" charset="0"/>
                <a:sym typeface="+mn-ea"/>
              </a:rPr>
              <a:t>DETECTION OF COVERT DATA EXFILTRATION CHANNELS THROUGH NETWORK-BASED KEYLOGGER TRAFFIC ANALYSIS USING ANOMALY DETECTION TECHNIQUES</a:t>
            </a:r>
            <a:endParaRPr lang="en-US" altLang="en-GB" sz="1600" b="1" dirty="0">
              <a:latin typeface="Times New Roman" panose="02020603050405020304" pitchFamily="18" charset="0"/>
              <a:cs typeface="Times New Roman" panose="02020603050405020304" pitchFamily="18" charset="0"/>
              <a:sym typeface="+mn-ea"/>
            </a:endParaRPr>
          </a:p>
          <a:p>
            <a:pPr algn="just">
              <a:lnSpc>
                <a:spcPct val="150000"/>
              </a:lnSpc>
            </a:pPr>
            <a:r>
              <a:rPr lang="en-US" sz="1600" b="1" dirty="0">
                <a:latin typeface="Times New Roman" panose="02020603050405020304" pitchFamily="18" charset="0"/>
                <a:cs typeface="Times New Roman" panose="02020603050405020304" pitchFamily="18" charset="0"/>
                <a:sym typeface="+mn-ea"/>
              </a:rPr>
              <a:t>AUTHORS: </a:t>
            </a:r>
            <a:r>
              <a:rPr lang="en-US" altLang="en-GB" sz="1600" dirty="0">
                <a:latin typeface="Times New Roman" panose="02020603050405020304" pitchFamily="18" charset="0"/>
                <a:cs typeface="Times New Roman" panose="02020603050405020304" pitchFamily="18" charset="0"/>
                <a:sym typeface="+mn-ea"/>
              </a:rPr>
              <a:t>Dr. K.Anand</a:t>
            </a:r>
            <a:r>
              <a:rPr lang="en-US" sz="1600" dirty="0">
                <a:latin typeface="Times New Roman" panose="02020603050405020304" pitchFamily="18" charset="0"/>
                <a:cs typeface="Times New Roman" panose="02020603050405020304" pitchFamily="18" charset="0"/>
                <a:sym typeface="+mn-ea"/>
              </a:rPr>
              <a:t>, </a:t>
            </a:r>
            <a:r>
              <a:rPr lang="en-US" altLang="en-GB" sz="1600" dirty="0">
                <a:latin typeface="Times New Roman" panose="02020603050405020304" pitchFamily="18" charset="0"/>
                <a:cs typeface="Times New Roman" panose="02020603050405020304" pitchFamily="18" charset="0"/>
                <a:sym typeface="+mn-ea"/>
              </a:rPr>
              <a:t>Bhuvaneesh R</a:t>
            </a:r>
            <a:r>
              <a:rPr lang="en-US" sz="1600" dirty="0">
                <a:latin typeface="Times New Roman" panose="02020603050405020304" pitchFamily="18" charset="0"/>
                <a:cs typeface="Times New Roman" panose="02020603050405020304" pitchFamily="18" charset="0"/>
                <a:sym typeface="+mn-ea"/>
              </a:rPr>
              <a:t>, Rethinaath S</a:t>
            </a:r>
            <a:endParaRPr lang="en-US" sz="1600" b="1"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sym typeface="+mn-ea"/>
              </a:rPr>
              <a:t>DATE OF PRESENTATION: </a:t>
            </a:r>
            <a:r>
              <a:rPr lang="en-US" altLang="en-IN" sz="1600" dirty="0">
                <a:latin typeface="Times New Roman" panose="02020603050405020304" pitchFamily="18" charset="0"/>
                <a:cs typeface="Times New Roman" panose="02020603050405020304" pitchFamily="18" charset="0"/>
                <a:sym typeface="+mn-ea"/>
              </a:rPr>
              <a:t>26</a:t>
            </a:r>
            <a:r>
              <a:rPr lang="en-IN" sz="1600" dirty="0">
                <a:latin typeface="Times New Roman" panose="02020603050405020304" pitchFamily="18" charset="0"/>
                <a:cs typeface="Times New Roman" panose="02020603050405020304" pitchFamily="18" charset="0"/>
                <a:sym typeface="+mn-ea"/>
              </a:rPr>
              <a:t> December, 2025</a:t>
            </a:r>
            <a:endParaRPr lang="en-US" altLang="en-GB" sz="16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Final Review – Phase 1</a:t>
            </a:r>
            <a:endParaRPr lang="en-IN" dirty="0"/>
          </a:p>
        </p:txBody>
      </p:sp>
      <p:sp>
        <p:nvSpPr>
          <p:cNvPr id="5" name="Footer Placeholder 4"/>
          <p:cNvSpPr>
            <a:spLocks noGrp="1"/>
          </p:cNvSpPr>
          <p:nvPr>
            <p:ph type="ftr" sz="quarter" idx="11"/>
          </p:nvPr>
        </p:nvSpPr>
        <p:spPr/>
        <p:txBody>
          <a:bodyPr/>
          <a:lstStyle/>
          <a:p>
            <a:pPr>
              <a:defRPr/>
            </a:pPr>
            <a:r>
              <a:rPr lang="en-US"/>
              <a:t>Department of Computer Science and Engineering</a:t>
            </a:r>
          </a:p>
        </p:txBody>
      </p:sp>
      <p:sp>
        <p:nvSpPr>
          <p:cNvPr id="6" name="Slide Number Placeholder 5"/>
          <p:cNvSpPr>
            <a:spLocks noGrp="1"/>
          </p:cNvSpPr>
          <p:nvPr>
            <p:ph type="sldNum" sz="quarter" idx="12"/>
          </p:nvPr>
        </p:nvSpPr>
        <p:spPr/>
        <p:txBody>
          <a:bodyPr/>
          <a:lstStyle/>
          <a:p>
            <a:pPr>
              <a:defRPr/>
            </a:pPr>
            <a:fld id="{BDC2143B-610F-499C-A392-DFFBE135A7B2}" type="slidenum">
              <a:rPr lang="en-US" altLang="en-US"/>
              <a:t>26</a:t>
            </a:fld>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6AA92-DCDE-2154-59E1-046C7E9B3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443A9-7E8E-30FA-CBE7-BF9BD7B40D77}"/>
              </a:ext>
            </a:extLst>
          </p:cNvPr>
          <p:cNvSpPr>
            <a:spLocks noGrp="1"/>
          </p:cNvSpPr>
          <p:nvPr>
            <p:ph type="title"/>
          </p:nvPr>
        </p:nvSpPr>
        <p:spPr>
          <a:xfrm>
            <a:off x="766233" y="-468920"/>
            <a:ext cx="10668000" cy="1216025"/>
          </a:xfrm>
        </p:spPr>
        <p:txBody>
          <a:bodyPr/>
          <a:lstStyle/>
          <a:p>
            <a:pPr algn="ctr"/>
            <a:r>
              <a:rPr lang="en-IN" altLang="en-US" b="1" dirty="0">
                <a:solidFill>
                  <a:srgbClr val="FF0000"/>
                </a:solidFill>
                <a:latin typeface="Times New Roman" panose="02020603050405020304" pitchFamily="18" charset="0"/>
                <a:cs typeface="Times New Roman" panose="02020603050405020304" pitchFamily="18" charset="0"/>
                <a:sym typeface="+mn-ea"/>
              </a:rPr>
              <a:t>PAPER SUBMISSION STATUS - EMAIL</a:t>
            </a:r>
            <a:endParaRPr lang="en-GB" altLang="en-US" dirty="0"/>
          </a:p>
        </p:txBody>
      </p:sp>
      <p:pic>
        <p:nvPicPr>
          <p:cNvPr id="8" name="Content Placeholder 7">
            <a:extLst>
              <a:ext uri="{FF2B5EF4-FFF2-40B4-BE49-F238E27FC236}">
                <a16:creationId xmlns:a16="http://schemas.microsoft.com/office/drawing/2014/main" id="{4349F2A9-7562-7439-6694-AD659FF1CD64}"/>
              </a:ext>
            </a:extLst>
          </p:cNvPr>
          <p:cNvPicPr>
            <a:picLocks noGrp="1" noChangeAspect="1"/>
          </p:cNvPicPr>
          <p:nvPr>
            <p:ph idx="1"/>
          </p:nvPr>
        </p:nvPicPr>
        <p:blipFill>
          <a:blip r:embed="rId2"/>
          <a:stretch>
            <a:fillRect/>
          </a:stretch>
        </p:blipFill>
        <p:spPr bwMode="auto">
          <a:xfrm>
            <a:off x="1778620" y="625230"/>
            <a:ext cx="8959718" cy="5522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F7DC29D8-6EE7-DA0E-5D02-B2BD1DE4E177}"/>
              </a:ext>
            </a:extLst>
          </p:cNvPr>
          <p:cNvSpPr>
            <a:spLocks noGrp="1"/>
          </p:cNvSpPr>
          <p:nvPr>
            <p:ph type="dt" sz="half" idx="10"/>
          </p:nvPr>
        </p:nvSpPr>
        <p:spPr/>
        <p:txBody>
          <a:bodyPr/>
          <a:lstStyle/>
          <a:p>
            <a:r>
              <a:rPr lang="en-US"/>
              <a:t>Final Review – Phase 1</a:t>
            </a:r>
            <a:endParaRPr lang="en-IN" dirty="0"/>
          </a:p>
        </p:txBody>
      </p:sp>
      <p:sp>
        <p:nvSpPr>
          <p:cNvPr id="5" name="Footer Placeholder 4">
            <a:extLst>
              <a:ext uri="{FF2B5EF4-FFF2-40B4-BE49-F238E27FC236}">
                <a16:creationId xmlns:a16="http://schemas.microsoft.com/office/drawing/2014/main" id="{DC7F691F-7189-CF68-1F43-DBB5C1CB8D8E}"/>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3201F797-2A27-57E9-7E3C-516D859E34F9}"/>
              </a:ext>
            </a:extLst>
          </p:cNvPr>
          <p:cNvSpPr>
            <a:spLocks noGrp="1"/>
          </p:cNvSpPr>
          <p:nvPr>
            <p:ph type="sldNum" sz="quarter" idx="12"/>
          </p:nvPr>
        </p:nvSpPr>
        <p:spPr/>
        <p:txBody>
          <a:bodyPr/>
          <a:lstStyle/>
          <a:p>
            <a:pPr>
              <a:defRPr/>
            </a:pPr>
            <a:fld id="{BDC2143B-610F-499C-A392-DFFBE135A7B2}" type="slidenum">
              <a:rPr lang="en-US" altLang="en-US"/>
              <a:t>27</a:t>
            </a:fld>
            <a:endParaRPr lang="en-US" altLang="en-US"/>
          </a:p>
        </p:txBody>
      </p:sp>
    </p:spTree>
    <p:extLst>
      <p:ext uri="{BB962C8B-B14F-4D97-AF65-F5344CB8AC3E}">
        <p14:creationId xmlns:p14="http://schemas.microsoft.com/office/powerpoint/2010/main" val="41969471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t>Department of Computer Science and Engineering</a:t>
            </a:r>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28</a:t>
            </a:fld>
            <a:endParaRPr lang="en-US" altLang="en-US" dirty="0"/>
          </a:p>
        </p:txBody>
      </p:sp>
      <p:sp>
        <p:nvSpPr>
          <p:cNvPr id="5" name="Date Placeholder 4"/>
          <p:cNvSpPr>
            <a:spLocks noGrp="1"/>
          </p:cNvSpPr>
          <p:nvPr>
            <p:ph type="dt" sz="half" idx="10"/>
          </p:nvPr>
        </p:nvSpPr>
        <p:spPr/>
        <p:txBody>
          <a:bodyPr/>
          <a:lstStyle/>
          <a:p>
            <a:r>
              <a:rPr lang="en-US"/>
              <a:t>Final Review – Phase 1</a:t>
            </a:r>
            <a:endParaRPr lang="en-IN"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34*336"/>
  <p:tag name="TABLE_ENDDRAG_RECT" val="64*141*834*336"/>
</p:tagLst>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366</TotalTime>
  <Words>3321</Words>
  <Application>Microsoft Office PowerPoint</Application>
  <PresentationFormat>Widescreen</PresentationFormat>
  <Paragraphs>298</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Times New Roman</vt:lpstr>
      <vt:lpstr>Verdana</vt:lpstr>
      <vt:lpstr>Wingdings</vt:lpstr>
      <vt:lpstr>Profile</vt:lpstr>
      <vt:lpstr>PowerPoint Presentation</vt:lpstr>
      <vt:lpstr>INTRODUCTION</vt:lpstr>
      <vt:lpstr>PROJECT OVERVIEW</vt:lpstr>
      <vt:lpstr>EXISTING SYSTEM</vt:lpstr>
      <vt:lpstr>PROBLEM STATEMENT </vt:lpstr>
      <vt:lpstr>OBJECTIVES AND SCOPE</vt:lpstr>
      <vt:lpstr>LITERATURE SURVEY</vt:lpstr>
      <vt:lpstr>LITERATURE SURVEY</vt:lpstr>
      <vt:lpstr>LITERATURE SURVEY</vt:lpstr>
      <vt:lpstr>LITERATURE SURVEY</vt:lpstr>
      <vt:lpstr>LITERATURE SURVEY</vt:lpstr>
      <vt:lpstr>LITERATURE SURVEY</vt:lpstr>
      <vt:lpstr>METHODOLOGY</vt:lpstr>
      <vt:lpstr>METHODOLOGY – ATTACKER MODULE</vt:lpstr>
      <vt:lpstr>METHODOLOGY – DETECTION MODULE</vt:lpstr>
      <vt:lpstr>SYSTEM ARCHITECTURE - ATTACKER MODULE</vt:lpstr>
      <vt:lpstr>SYSTEM ARCHITECTURE – DETECTION MODULE</vt:lpstr>
      <vt:lpstr>LIST OF MODULES</vt:lpstr>
      <vt:lpstr>IMPLEMENTATION(Code) – keylogger_local.py</vt:lpstr>
      <vt:lpstr>IMPLEMENTATION – keylogger_local.py</vt:lpstr>
      <vt:lpstr>IMPLEMENTATION(Code)–attacker_receiver.py</vt:lpstr>
      <vt:lpstr>IMPLEMENTATION – attacker_receiver.py</vt:lpstr>
      <vt:lpstr>REFERENCE</vt:lpstr>
      <vt:lpstr>REFERENCE</vt:lpstr>
      <vt:lpstr>REFERENCE</vt:lpstr>
      <vt:lpstr>PAPER PUBLICATION STATUS</vt:lpstr>
      <vt:lpstr>PAPER SUBMISSION STATUS - EMAIL</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Bhuvaanesh Rajeswaran</cp:lastModifiedBy>
  <cp:revision>30</cp:revision>
  <dcterms:created xsi:type="dcterms:W3CDTF">2023-08-03T04:32:00Z</dcterms:created>
  <dcterms:modified xsi:type="dcterms:W3CDTF">2025-11-30T17:44:59Z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D3D9A0A242CA41159A4B20EB4A059E22_12</vt:lpwstr>
  </property>
  <property fmtid="{D5CDD505-2E9C-101B-9397-08002B2CF9AE}" pid="3" name="KSOProductBuildVer">
    <vt:lpwstr>2057-12.2.0.23149</vt:lpwstr>
  </property>
</Properties>
</file>